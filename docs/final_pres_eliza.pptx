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70" r:id="rId21"/>
    <p:sldId id="260" r:id="rId6"/>
    <p:sldId id="261" r:id="rId12"/>
    <p:sldId id="262" r:id="rId13"/>
    <p:sldId id="263" r:id="rId14"/>
    <p:sldId id="264" r:id="rId15"/>
    <p:sldId id="265" r:id="rId16"/>
    <p:sldId id="266" r:id="rId17"/>
    <p:sldId id="267" r:id="rId18"/>
    <p:sldId id="268" r:id="rId19"/>
    <p:sldId id="269"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1" d="100"/>
          <a:sy n="171"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163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3.png"/><Relationship Id="rId9" Type="http://schemas.openxmlformats.org/officeDocument/2006/relationships/image" Target="../media/image16.png"/><Relationship Id="rId10"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rot="900000">
            <a:off x="6400800" y="-457200"/>
            <a:ext cx="4114800" cy="6057900"/>
          </a:xfrm>
          <a:prstGeom prst="rect">
            <a:avLst/>
          </a:prstGeom>
          <a:solidFill>
            <a:srgbClr val="0D4F6B">
              <a:alpha val="40000"/>
            </a:srgbClr>
          </a:solidFill>
          <a:ln/>
        </p:spPr>
        <p:txBody>
          <a:bodyPr/>
          <a:p/>
        </p:txBody>
      </p:sp>
      <p:sp>
        <p:nvSpPr>
          <p:cNvPr id="3" name="Text 1"/>
          <p:cNvSpPr/>
          <p:nvPr/>
        </p:nvSpPr>
        <p:spPr>
          <a:xfrm>
            <a:off x="731520" y="1097280"/>
            <a:ext cx="685800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SEC Filing Research Tool</a:t>
            </a:r>
            <a:endParaRPr lang="en-US" sz="4000" dirty="0"/>
          </a:p>
        </p:txBody>
      </p:sp>
      <p:sp>
        <p:nvSpPr>
          <p:cNvPr id="4" name="Text 2"/>
          <p:cNvSpPr/>
          <p:nvPr/>
        </p:nvSpPr>
        <p:spPr>
          <a:xfrm>
            <a:off x="731520" y="2286000"/>
            <a:ext cx="6400800" cy="82296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AI-powered research assistant for SEC filings with enterprise-grade</a:t>
            </a:r>
            <a:endParaRPr lang="en-US" sz="1500" dirty="0"/>
          </a:p>
          <a:p>
            <a:pPr marL="0" indent="0">
              <a:buNone/>
            </a:pPr>
            <a:r>
              <a:rPr lang="en-US" sz="1500" dirty="0">
                <a:solidFill>
                  <a:srgbClr val="94A3B8"/>
                </a:solidFill>
                <a:latin typeface="Calibri" pitchFamily="34" charset="0"/>
                <a:ea typeface="Calibri" pitchFamily="34" charset="-122"/>
                <a:cs typeface="Calibri" pitchFamily="34" charset="-120"/>
              </a:rPr>
              <a:t>access control, audit logging, and multi-provider LLM support</a:t>
            </a:r>
            <a:endParaRPr lang="en-US" sz="1500" dirty="0"/>
          </a:p>
        </p:txBody>
      </p:sp>
      <p:sp>
        <p:nvSpPr>
          <p:cNvPr id="5" name="Shape 3"/>
          <p:cNvSpPr/>
          <p:nvPr/>
        </p:nvSpPr>
        <p:spPr>
          <a:xfrm>
            <a:off x="731520" y="3474720"/>
            <a:ext cx="1463040" cy="914400"/>
          </a:xfrm>
          <a:prstGeom prst="rect">
            <a:avLst/>
          </a:prstGeom>
          <a:solidFill>
            <a:srgbClr val="0D4F6B">
              <a:alpha val="70000"/>
            </a:srgbClr>
          </a:solidFill>
          <a:ln w="6350">
            <a:solidFill>
              <a:srgbClr val="0F7B93">
                <a:alpha val="50000"/>
              </a:srgbClr>
            </a:solidFill>
            <a:prstDash val="solid"/>
          </a:ln>
        </p:spPr>
        <p:txBody>
          <a:bodyPr/>
          <a:p/>
        </p:txBody>
      </p:sp>
      <p:sp>
        <p:nvSpPr>
          <p:cNvPr id="6" name="Text 4"/>
          <p:cNvSpPr/>
          <p:nvPr/>
        </p:nvSpPr>
        <p:spPr>
          <a:xfrm>
            <a:off x="731520" y="3520440"/>
            <a:ext cx="1463040" cy="502920"/>
          </a:xfrm>
          <a:prstGeom prst="rect">
            <a:avLst/>
          </a:prstGeom>
          <a:noFill/>
          <a:ln/>
        </p:spPr>
        <p:txBody>
          <a:bodyPr wrap="square" lIns="0" tIns="0" rIns="0" bIns="0" rtlCol="0" anchor="ctr"/>
          <a:lstStyle/>
          <a:p>
            <a:pPr marL="0" indent="0" algn="ctr">
              <a:buNone/>
            </a:pPr>
            <a:r>
              <a:rPr lang="en-US" sz="2600" b="1" dirty="0">
                <a:solidFill>
                  <a:srgbClr val="1DB8D4"/>
                </a:solidFill>
                <a:latin typeface="Trebuchet MS" pitchFamily="34" charset="0"/>
                <a:ea typeface="Trebuchet MS" pitchFamily="34" charset="-122"/>
                <a:cs typeface="Trebuchet MS" pitchFamily="34" charset="-120"/>
              </a:rPr>
              <a:t>246</a:t>
            </a:r>
            <a:endParaRPr lang="en-US" sz="2600" dirty="0"/>
          </a:p>
        </p:txBody>
      </p:sp>
      <p:sp>
        <p:nvSpPr>
          <p:cNvPr id="7" name="Text 5"/>
          <p:cNvSpPr/>
          <p:nvPr/>
        </p:nvSpPr>
        <p:spPr>
          <a:xfrm>
            <a:off x="731520" y="4023360"/>
            <a:ext cx="1463040" cy="320040"/>
          </a:xfrm>
          <a:prstGeom prst="rect">
            <a:avLst/>
          </a:prstGeom>
          <a:noFill/>
          <a:ln/>
        </p:spPr>
        <p:txBody>
          <a:bodyPr wrap="square" lIns="0" tIns="0" rIns="0" bIns="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SEC filings</a:t>
            </a:r>
            <a:endParaRPr lang="en-US" sz="1100" dirty="0"/>
          </a:p>
        </p:txBody>
      </p:sp>
      <p:sp>
        <p:nvSpPr>
          <p:cNvPr id="8" name="Shape 6"/>
          <p:cNvSpPr/>
          <p:nvPr/>
        </p:nvSpPr>
        <p:spPr>
          <a:xfrm>
            <a:off x="2423160" y="3474720"/>
            <a:ext cx="1463040" cy="914400"/>
          </a:xfrm>
          <a:prstGeom prst="rect">
            <a:avLst/>
          </a:prstGeom>
          <a:solidFill>
            <a:srgbClr val="0D4F6B">
              <a:alpha val="70000"/>
            </a:srgbClr>
          </a:solidFill>
          <a:ln w="6350">
            <a:solidFill>
              <a:srgbClr val="0F7B93">
                <a:alpha val="50000"/>
              </a:srgbClr>
            </a:solidFill>
            <a:prstDash val="solid"/>
          </a:ln>
        </p:spPr>
        <p:txBody>
          <a:bodyPr/>
          <a:p/>
        </p:txBody>
      </p:sp>
      <p:sp>
        <p:nvSpPr>
          <p:cNvPr id="9" name="Text 7"/>
          <p:cNvSpPr/>
          <p:nvPr/>
        </p:nvSpPr>
        <p:spPr>
          <a:xfrm>
            <a:off x="2423160" y="3520440"/>
            <a:ext cx="1463040" cy="502920"/>
          </a:xfrm>
          <a:prstGeom prst="rect">
            <a:avLst/>
          </a:prstGeom>
          <a:noFill/>
          <a:ln/>
        </p:spPr>
        <p:txBody>
          <a:bodyPr wrap="square" lIns="0" tIns="0" rIns="0" bIns="0" rtlCol="0" anchor="ctr"/>
          <a:lstStyle/>
          <a:p>
            <a:pPr marL="0" indent="0" algn="ctr">
              <a:buNone/>
            </a:pPr>
            <a:r>
              <a:rPr lang="en-US" sz="2600" b="1" dirty="0">
                <a:solidFill>
                  <a:srgbClr val="1DB8D4"/>
                </a:solidFill>
                <a:latin typeface="Trebuchet MS" pitchFamily="34" charset="0"/>
                <a:ea typeface="Trebuchet MS" pitchFamily="34" charset="-122"/>
                <a:cs typeface="Trebuchet MS" pitchFamily="34" charset="-120"/>
              </a:rPr>
              <a:t>13,953</a:t>
            </a:r>
            <a:endParaRPr lang="en-US" sz="2600" dirty="0"/>
          </a:p>
        </p:txBody>
      </p:sp>
      <p:sp>
        <p:nvSpPr>
          <p:cNvPr id="10" name="Text 8"/>
          <p:cNvSpPr/>
          <p:nvPr/>
        </p:nvSpPr>
        <p:spPr>
          <a:xfrm>
            <a:off x="2423160" y="4023360"/>
            <a:ext cx="1463040" cy="320040"/>
          </a:xfrm>
          <a:prstGeom prst="rect">
            <a:avLst/>
          </a:prstGeom>
          <a:noFill/>
          <a:ln/>
        </p:spPr>
        <p:txBody>
          <a:bodyPr wrap="square" lIns="0" tIns="0" rIns="0" bIns="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Indexed chunks</a:t>
            </a:r>
            <a:endParaRPr lang="en-US" sz="1100" dirty="0"/>
          </a:p>
        </p:txBody>
      </p:sp>
      <p:sp>
        <p:nvSpPr>
          <p:cNvPr id="11" name="Shape 9"/>
          <p:cNvSpPr/>
          <p:nvPr/>
        </p:nvSpPr>
        <p:spPr>
          <a:xfrm>
            <a:off x="4114800" y="3474720"/>
            <a:ext cx="1463040" cy="914400"/>
          </a:xfrm>
          <a:prstGeom prst="rect">
            <a:avLst/>
          </a:prstGeom>
          <a:solidFill>
            <a:srgbClr val="0D4F6B">
              <a:alpha val="70000"/>
            </a:srgbClr>
          </a:solidFill>
          <a:ln w="6350">
            <a:solidFill>
              <a:srgbClr val="0F7B93">
                <a:alpha val="50000"/>
              </a:srgbClr>
            </a:solidFill>
            <a:prstDash val="solid"/>
          </a:ln>
        </p:spPr>
        <p:txBody>
          <a:bodyPr/>
          <a:p/>
        </p:txBody>
      </p:sp>
      <p:sp>
        <p:nvSpPr>
          <p:cNvPr id="12" name="Text 10"/>
          <p:cNvSpPr/>
          <p:nvPr/>
        </p:nvSpPr>
        <p:spPr>
          <a:xfrm>
            <a:off x="4114800" y="3520440"/>
            <a:ext cx="1463040" cy="502920"/>
          </a:xfrm>
          <a:prstGeom prst="rect">
            <a:avLst/>
          </a:prstGeom>
          <a:noFill/>
          <a:ln/>
        </p:spPr>
        <p:txBody>
          <a:bodyPr wrap="square" lIns="0" tIns="0" rIns="0" bIns="0" rtlCol="0" anchor="ctr"/>
          <a:lstStyle/>
          <a:p>
            <a:pPr marL="0" indent="0" algn="ctr">
              <a:buNone/>
            </a:pPr>
            <a:r>
              <a:rPr lang="en-US" sz="2600" b="1" dirty="0">
                <a:solidFill>
                  <a:srgbClr val="1DB8D4"/>
                </a:solidFill>
                <a:latin typeface="Trebuchet MS" pitchFamily="34" charset="0"/>
                <a:ea typeface="Trebuchet MS" pitchFamily="34" charset="-122"/>
                <a:cs typeface="Trebuchet MS" pitchFamily="34" charset="-120"/>
              </a:rPr>
              <a:t>54</a:t>
            </a:r>
            <a:endParaRPr lang="en-US" sz="2600" dirty="0"/>
          </a:p>
        </p:txBody>
      </p:sp>
      <p:sp>
        <p:nvSpPr>
          <p:cNvPr id="13" name="Text 11"/>
          <p:cNvSpPr/>
          <p:nvPr/>
        </p:nvSpPr>
        <p:spPr>
          <a:xfrm>
            <a:off x="4114800" y="4023360"/>
            <a:ext cx="1463040" cy="320040"/>
          </a:xfrm>
          <a:prstGeom prst="rect">
            <a:avLst/>
          </a:prstGeom>
          <a:noFill/>
          <a:ln/>
        </p:spPr>
        <p:txBody>
          <a:bodyPr wrap="square" lIns="0" tIns="0" rIns="0" bIns="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Companies</a:t>
            </a:r>
            <a:endParaRPr lang="en-US" sz="1100" dirty="0"/>
          </a:p>
        </p:txBody>
      </p:sp>
      <p:sp>
        <p:nvSpPr>
          <p:cNvPr id="14" name="Shape 12"/>
          <p:cNvSpPr/>
          <p:nvPr/>
        </p:nvSpPr>
        <p:spPr>
          <a:xfrm>
            <a:off x="5806440" y="3474720"/>
            <a:ext cx="1463040" cy="914400"/>
          </a:xfrm>
          <a:prstGeom prst="rect">
            <a:avLst/>
          </a:prstGeom>
          <a:solidFill>
            <a:srgbClr val="0D4F6B">
              <a:alpha val="70000"/>
            </a:srgbClr>
          </a:solidFill>
          <a:ln w="6350">
            <a:solidFill>
              <a:srgbClr val="0F7B93">
                <a:alpha val="50000"/>
              </a:srgbClr>
            </a:solidFill>
            <a:prstDash val="solid"/>
          </a:ln>
        </p:spPr>
        <p:txBody>
          <a:bodyPr/>
          <a:p/>
        </p:txBody>
      </p:sp>
      <p:sp>
        <p:nvSpPr>
          <p:cNvPr id="15" name="Text 13"/>
          <p:cNvSpPr/>
          <p:nvPr/>
        </p:nvSpPr>
        <p:spPr>
          <a:xfrm>
            <a:off x="5806440" y="3520440"/>
            <a:ext cx="1463040" cy="502920"/>
          </a:xfrm>
          <a:prstGeom prst="rect">
            <a:avLst/>
          </a:prstGeom>
          <a:noFill/>
          <a:ln/>
        </p:spPr>
        <p:txBody>
          <a:bodyPr wrap="square" lIns="0" tIns="0" rIns="0" bIns="0" rtlCol="0" anchor="ctr"/>
          <a:lstStyle/>
          <a:p>
            <a:pPr marL="0" indent="0" algn="ctr">
              <a:buNone/>
            </a:pPr>
            <a:r>
              <a:rPr lang="en-US" sz="2600" b="1" dirty="0">
                <a:solidFill>
                  <a:srgbClr val="1DB8D4"/>
                </a:solidFill>
                <a:latin typeface="Trebuchet MS" pitchFamily="34" charset="0"/>
                <a:ea typeface="Trebuchet MS" pitchFamily="34" charset="-122"/>
                <a:cs typeface="Trebuchet MS" pitchFamily="34" charset="-120"/>
              </a:rPr>
              <a:t>97%</a:t>
            </a:r>
            <a:endParaRPr lang="en-US" sz="2600" dirty="0"/>
          </a:p>
        </p:txBody>
      </p:sp>
      <p:sp>
        <p:nvSpPr>
          <p:cNvPr id="16" name="Text 14"/>
          <p:cNvSpPr/>
          <p:nvPr/>
        </p:nvSpPr>
        <p:spPr>
          <a:xfrm>
            <a:off x="5806440" y="4023360"/>
            <a:ext cx="1463040" cy="320040"/>
          </a:xfrm>
          <a:prstGeom prst="rect">
            <a:avLst/>
          </a:prstGeom>
          <a:noFill/>
          <a:ln/>
        </p:spPr>
        <p:txBody>
          <a:bodyPr wrap="square" lIns="0" tIns="0" rIns="0" bIns="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Accuracy</a:t>
            </a:r>
            <a:endParaRPr lang="en-US" sz="1100" dirty="0"/>
          </a:p>
        </p:txBody>
      </p:sp>
      <p:sp>
        <p:nvSpPr>
          <p:cNvPr id="17" name="Text 15"/>
          <p:cNvSpPr/>
          <p:nvPr/>
        </p:nvSpPr>
        <p:spPr>
          <a:xfrm>
            <a:off x="731520" y="4617720"/>
            <a:ext cx="777240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Chris Jaston  |  Forward Deployed Engineer Assessment  |  Eliza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332"/>
          </a:solidFill>
          <a:ln/>
        </p:spPr>
        <p:txBody>
          <a:bodyPr/>
          <a:p/>
        </p:txBody>
      </p:sp>
      <p:sp>
        <p:nvSpPr>
          <p:cNvPr id="3" name="Text 1"/>
          <p:cNvSpPr/>
          <p:nvPr/>
        </p:nvSpPr>
        <p:spPr>
          <a:xfrm>
            <a:off x="548640" y="45720"/>
            <a:ext cx="5486400" cy="502920"/>
          </a:xfrm>
          <a:prstGeom prst="rect">
            <a:avLst/>
          </a:prstGeom>
          <a:noFill/>
          <a:ln/>
        </p:spPr>
        <p:txBody>
          <a:bodyPr wrap="square" lIns="0" tIns="0" rIns="0" bIns="0" rtlCol="0" anchor="ctr"/>
          <a:lstStyle/>
          <a:p>
            <a:pPr marL="0" indent="0">
              <a:buNone/>
            </a:pPr>
            <a:r>
              <a:rPr lang="en-US" sz="1600" b="1" kern="0" spc="300" dirty="0">
                <a:solidFill>
                  <a:srgbClr val="FFFFFF"/>
                </a:solidFill>
                <a:latin typeface="Trebuchet MS" pitchFamily="34" charset="0"/>
                <a:ea typeface="Trebuchet MS" pitchFamily="34" charset="-122"/>
                <a:cs typeface="Trebuchet MS" pitchFamily="34" charset="-120"/>
              </a:rPr>
              <a:t>INDEX BUILD PIPELINE</a:t>
            </a:r>
            <a:endParaRPr lang="en-US" sz="1600" dirty="0"/>
          </a:p>
        </p:txBody>
      </p:sp>
      <p:sp>
        <p:nvSpPr>
          <p:cNvPr id="4" name="Text 2"/>
          <p:cNvSpPr/>
          <p:nvPr/>
        </p:nvSpPr>
        <p:spPr>
          <a:xfrm>
            <a:off x="5943600" y="45720"/>
            <a:ext cx="2743200" cy="502920"/>
          </a:xfrm>
          <a:prstGeom prst="rect">
            <a:avLst/>
          </a:prstGeom>
          <a:noFill/>
          <a:ln/>
        </p:spPr>
        <p:txBody>
          <a:bodyPr wrap="square" lIns="0" tIns="0" rIns="0" bIns="0" rtlCol="0" anchor="ctr"/>
          <a:lstStyle/>
          <a:p>
            <a:pPr marL="0" indent="0" algn="r">
              <a:buNone/>
            </a:pPr>
            <a:r>
              <a:rPr lang="en-US" sz="1200" i="1" dirty="0">
                <a:solidFill>
                  <a:srgbClr val="94A3B8"/>
                </a:solidFill>
                <a:latin typeface="Calibri" pitchFamily="34" charset="0"/>
                <a:ea typeface="Calibri" pitchFamily="34" charset="-122"/>
                <a:cs typeface="Calibri" pitchFamily="34" charset="-120"/>
              </a:rPr>
              <a:t>offline, one-time</a:t>
            </a:r>
            <a:endParaRPr lang="en-US" sz="1200" dirty="0"/>
          </a:p>
        </p:txBody>
      </p:sp>
      <p:sp>
        <p:nvSpPr>
          <p:cNvPr id="5" name="Shape 3"/>
          <p:cNvSpPr/>
          <p:nvPr/>
        </p:nvSpPr>
        <p:spPr>
          <a:xfrm>
            <a:off x="457200" y="1005840"/>
            <a:ext cx="1417320" cy="242316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6" name="Shape 4"/>
          <p:cNvSpPr/>
          <p:nvPr/>
        </p:nvSpPr>
        <p:spPr>
          <a:xfrm>
            <a:off x="457200" y="1005840"/>
            <a:ext cx="1417320" cy="54864"/>
          </a:xfrm>
          <a:prstGeom prst="rect">
            <a:avLst/>
          </a:prstGeom>
          <a:solidFill>
            <a:srgbClr val="0D4F6B"/>
          </a:solidFill>
          <a:ln/>
        </p:spPr>
        <p:txBody>
          <a:bodyPr/>
          <a:p/>
        </p:txBody>
      </p:sp>
      <p:pic>
        <p:nvPicPr>
          <p:cNvPr id="7" name="Image 0" descr="preencoded.png"/>
          <p:cNvPicPr>
            <a:picLocks noChangeAspect="1"/>
          </p:cNvPicPr>
          <p:nvPr/>
        </p:nvPicPr>
        <p:blipFill>
          <a:blip r:embed="rId3"/>
          <a:stretch>
            <a:fillRect/>
          </a:stretch>
        </p:blipFill>
        <p:spPr>
          <a:xfrm>
            <a:off x="1010412" y="1207008"/>
            <a:ext cx="310896" cy="310896"/>
          </a:xfrm>
          <a:prstGeom prst="rect">
            <a:avLst/>
          </a:prstGeom>
        </p:spPr>
      </p:pic>
      <p:sp>
        <p:nvSpPr>
          <p:cNvPr id="8" name="Text 5"/>
          <p:cNvSpPr/>
          <p:nvPr/>
        </p:nvSpPr>
        <p:spPr>
          <a:xfrm>
            <a:off x="457200" y="1572768"/>
            <a:ext cx="1417320"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Raw filings</a:t>
            </a:r>
            <a:endParaRPr lang="en-US" sz="1300" dirty="0"/>
          </a:p>
        </p:txBody>
      </p:sp>
      <p:sp>
        <p:nvSpPr>
          <p:cNvPr id="9" name="Text 6"/>
          <p:cNvSpPr/>
          <p:nvPr/>
        </p:nvSpPr>
        <p:spPr>
          <a:xfrm>
            <a:off x="530352" y="1874520"/>
            <a:ext cx="1271016" cy="11887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246 SEC filings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10-K &amp; 10-Q</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54 companies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7 sectors</a:t>
            </a:r>
            <a:endParaRPr lang="en-US" sz="1000" dirty="0"/>
          </a:p>
        </p:txBody>
      </p:sp>
      <p:sp>
        <p:nvSpPr>
          <p:cNvPr id="10" name="Text 7"/>
          <p:cNvSpPr/>
          <p:nvPr/>
        </p:nvSpPr>
        <p:spPr>
          <a:xfrm>
            <a:off x="457200" y="3154680"/>
            <a:ext cx="1417320" cy="201168"/>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edgar_corpus/</a:t>
            </a:r>
            <a:endParaRPr lang="en-US" sz="800" dirty="0"/>
          </a:p>
        </p:txBody>
      </p:sp>
      <p:pic>
        <p:nvPicPr>
          <p:cNvPr id="11" name="Image 1" descr="preencoded.png"/>
          <p:cNvPicPr>
            <a:picLocks noChangeAspect="1"/>
          </p:cNvPicPr>
          <p:nvPr/>
        </p:nvPicPr>
        <p:blipFill>
          <a:blip r:embed="rId4"/>
          <a:stretch>
            <a:fillRect/>
          </a:stretch>
        </p:blipFill>
        <p:spPr>
          <a:xfrm>
            <a:off x="1892808" y="2107692"/>
            <a:ext cx="201168" cy="201168"/>
          </a:xfrm>
          <a:prstGeom prst="rect">
            <a:avLst/>
          </a:prstGeom>
        </p:spPr>
      </p:pic>
      <p:sp>
        <p:nvSpPr>
          <p:cNvPr id="12" name="Shape 8"/>
          <p:cNvSpPr/>
          <p:nvPr/>
        </p:nvSpPr>
        <p:spPr>
          <a:xfrm>
            <a:off x="2103120" y="1005840"/>
            <a:ext cx="1417320" cy="242316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13" name="Shape 9"/>
          <p:cNvSpPr/>
          <p:nvPr/>
        </p:nvSpPr>
        <p:spPr>
          <a:xfrm>
            <a:off x="2103120" y="1005840"/>
            <a:ext cx="1417320" cy="54864"/>
          </a:xfrm>
          <a:prstGeom prst="rect">
            <a:avLst/>
          </a:prstGeom>
          <a:solidFill>
            <a:srgbClr val="0F7B93"/>
          </a:solidFill>
          <a:ln/>
        </p:spPr>
        <p:txBody>
          <a:bodyPr/>
          <a:p/>
        </p:txBody>
      </p:sp>
      <p:pic>
        <p:nvPicPr>
          <p:cNvPr id="14" name="Image 2" descr="preencoded.png"/>
          <p:cNvPicPr>
            <a:picLocks noChangeAspect="1"/>
          </p:cNvPicPr>
          <p:nvPr/>
        </p:nvPicPr>
        <p:blipFill>
          <a:blip r:embed="rId5"/>
          <a:stretch>
            <a:fillRect/>
          </a:stretch>
        </p:blipFill>
        <p:spPr>
          <a:xfrm>
            <a:off x="2656332" y="1207008"/>
            <a:ext cx="310896" cy="310896"/>
          </a:xfrm>
          <a:prstGeom prst="rect">
            <a:avLst/>
          </a:prstGeom>
        </p:spPr>
      </p:pic>
      <p:sp>
        <p:nvSpPr>
          <p:cNvPr id="15" name="Text 10"/>
          <p:cNvSpPr/>
          <p:nvPr/>
        </p:nvSpPr>
        <p:spPr>
          <a:xfrm>
            <a:off x="2103120" y="1572768"/>
            <a:ext cx="1417320"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Preprocess</a:t>
            </a:r>
            <a:endParaRPr lang="en-US" sz="1300" dirty="0"/>
          </a:p>
        </p:txBody>
      </p:sp>
      <p:sp>
        <p:nvSpPr>
          <p:cNvPr id="16" name="Text 11"/>
          <p:cNvSpPr/>
          <p:nvPr/>
        </p:nvSpPr>
        <p:spPr>
          <a:xfrm>
            <a:off x="2176272" y="1874520"/>
            <a:ext cx="1271016" cy="11887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Header parsing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XBRL stripping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(3 strategies)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TOC section</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extraction</a:t>
            </a:r>
            <a:endParaRPr lang="en-US" sz="1000" dirty="0"/>
          </a:p>
        </p:txBody>
      </p:sp>
      <p:sp>
        <p:nvSpPr>
          <p:cNvPr id="17" name="Text 12"/>
          <p:cNvSpPr/>
          <p:nvPr/>
        </p:nvSpPr>
        <p:spPr>
          <a:xfrm>
            <a:off x="2103120" y="3154680"/>
            <a:ext cx="1417320" cy="201168"/>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preprocess.py</a:t>
            </a:r>
            <a:endParaRPr lang="en-US" sz="800" dirty="0"/>
          </a:p>
        </p:txBody>
      </p:sp>
      <p:pic>
        <p:nvPicPr>
          <p:cNvPr id="18" name="Image 3" descr="preencoded.png"/>
          <p:cNvPicPr>
            <a:picLocks noChangeAspect="1"/>
          </p:cNvPicPr>
          <p:nvPr/>
        </p:nvPicPr>
        <p:blipFill>
          <a:blip r:embed="rId4"/>
          <a:stretch>
            <a:fillRect/>
          </a:stretch>
        </p:blipFill>
        <p:spPr>
          <a:xfrm>
            <a:off x="3538728" y="2107692"/>
            <a:ext cx="201168" cy="201168"/>
          </a:xfrm>
          <a:prstGeom prst="rect">
            <a:avLst/>
          </a:prstGeom>
        </p:spPr>
      </p:pic>
      <p:sp>
        <p:nvSpPr>
          <p:cNvPr id="19" name="Shape 13"/>
          <p:cNvSpPr/>
          <p:nvPr/>
        </p:nvSpPr>
        <p:spPr>
          <a:xfrm>
            <a:off x="3749040" y="1005840"/>
            <a:ext cx="1417320" cy="242316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0" name="Shape 14"/>
          <p:cNvSpPr/>
          <p:nvPr/>
        </p:nvSpPr>
        <p:spPr>
          <a:xfrm>
            <a:off x="3749040" y="1005840"/>
            <a:ext cx="1417320" cy="54864"/>
          </a:xfrm>
          <a:prstGeom prst="rect">
            <a:avLst/>
          </a:prstGeom>
          <a:solidFill>
            <a:srgbClr val="0D4F6B"/>
          </a:solidFill>
          <a:ln/>
        </p:spPr>
        <p:txBody>
          <a:bodyPr/>
          <a:p/>
        </p:txBody>
      </p:sp>
      <p:pic>
        <p:nvPicPr>
          <p:cNvPr id="21" name="Image 4" descr="preencoded.png"/>
          <p:cNvPicPr>
            <a:picLocks noChangeAspect="1"/>
          </p:cNvPicPr>
          <p:nvPr/>
        </p:nvPicPr>
        <p:blipFill>
          <a:blip r:embed="rId6"/>
          <a:stretch>
            <a:fillRect/>
          </a:stretch>
        </p:blipFill>
        <p:spPr>
          <a:xfrm>
            <a:off x="4302252" y="1207008"/>
            <a:ext cx="310896" cy="310896"/>
          </a:xfrm>
          <a:prstGeom prst="rect">
            <a:avLst/>
          </a:prstGeom>
        </p:spPr>
      </p:pic>
      <p:sp>
        <p:nvSpPr>
          <p:cNvPr id="22" name="Text 15"/>
          <p:cNvSpPr/>
          <p:nvPr/>
        </p:nvSpPr>
        <p:spPr>
          <a:xfrm>
            <a:off x="3749040" y="1572768"/>
            <a:ext cx="1417320"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Chunk</a:t>
            </a:r>
            <a:endParaRPr lang="en-US" sz="1300" dirty="0"/>
          </a:p>
        </p:txBody>
      </p:sp>
      <p:sp>
        <p:nvSpPr>
          <p:cNvPr id="23" name="Text 16"/>
          <p:cNvSpPr/>
          <p:nvPr/>
        </p:nvSpPr>
        <p:spPr>
          <a:xfrm>
            <a:off x="3822192" y="1874520"/>
            <a:ext cx="1271016" cy="11887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Section dedup</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by (Item, Part)</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1,500t / 200t</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overlap</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18 metadata fields</a:t>
            </a:r>
            <a:endParaRPr lang="en-US" sz="1000" dirty="0"/>
          </a:p>
        </p:txBody>
      </p:sp>
      <p:sp>
        <p:nvSpPr>
          <p:cNvPr id="24" name="Text 17"/>
          <p:cNvSpPr/>
          <p:nvPr/>
        </p:nvSpPr>
        <p:spPr>
          <a:xfrm>
            <a:off x="3749040" y="3154680"/>
            <a:ext cx="1417320" cy="201168"/>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chunker.py</a:t>
            </a:r>
            <a:endParaRPr lang="en-US" sz="800" dirty="0"/>
          </a:p>
        </p:txBody>
      </p:sp>
      <p:pic>
        <p:nvPicPr>
          <p:cNvPr id="25" name="Image 5" descr="preencoded.png"/>
          <p:cNvPicPr>
            <a:picLocks noChangeAspect="1"/>
          </p:cNvPicPr>
          <p:nvPr/>
        </p:nvPicPr>
        <p:blipFill>
          <a:blip r:embed="rId4"/>
          <a:stretch>
            <a:fillRect/>
          </a:stretch>
        </p:blipFill>
        <p:spPr>
          <a:xfrm>
            <a:off x="5184648" y="2107692"/>
            <a:ext cx="201168" cy="201168"/>
          </a:xfrm>
          <a:prstGeom prst="rect">
            <a:avLst/>
          </a:prstGeom>
        </p:spPr>
      </p:pic>
      <p:sp>
        <p:nvSpPr>
          <p:cNvPr id="26" name="Shape 18"/>
          <p:cNvSpPr/>
          <p:nvPr/>
        </p:nvSpPr>
        <p:spPr>
          <a:xfrm>
            <a:off x="5394960" y="1005840"/>
            <a:ext cx="1417320" cy="242316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7" name="Shape 19"/>
          <p:cNvSpPr/>
          <p:nvPr/>
        </p:nvSpPr>
        <p:spPr>
          <a:xfrm>
            <a:off x="5394960" y="1005840"/>
            <a:ext cx="1417320" cy="54864"/>
          </a:xfrm>
          <a:prstGeom prst="rect">
            <a:avLst/>
          </a:prstGeom>
          <a:solidFill>
            <a:srgbClr val="0F7B93"/>
          </a:solidFill>
          <a:ln/>
        </p:spPr>
        <p:txBody>
          <a:bodyPr/>
          <a:p/>
        </p:txBody>
      </p:sp>
      <p:pic>
        <p:nvPicPr>
          <p:cNvPr id="28" name="Image 6" descr="preencoded.png"/>
          <p:cNvPicPr>
            <a:picLocks noChangeAspect="1"/>
          </p:cNvPicPr>
          <p:nvPr/>
        </p:nvPicPr>
        <p:blipFill>
          <a:blip r:embed="rId7"/>
          <a:stretch>
            <a:fillRect/>
          </a:stretch>
        </p:blipFill>
        <p:spPr>
          <a:xfrm>
            <a:off x="5948172" y="1207008"/>
            <a:ext cx="310896" cy="310896"/>
          </a:xfrm>
          <a:prstGeom prst="rect">
            <a:avLst/>
          </a:prstGeom>
        </p:spPr>
      </p:pic>
      <p:sp>
        <p:nvSpPr>
          <p:cNvPr id="29" name="Text 20"/>
          <p:cNvSpPr/>
          <p:nvPr/>
        </p:nvSpPr>
        <p:spPr>
          <a:xfrm>
            <a:off x="5394960" y="1572768"/>
            <a:ext cx="1417320"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Embed</a:t>
            </a:r>
            <a:endParaRPr lang="en-US" sz="1300" dirty="0"/>
          </a:p>
        </p:txBody>
      </p:sp>
      <p:sp>
        <p:nvSpPr>
          <p:cNvPr id="30" name="Text 21"/>
          <p:cNvSpPr/>
          <p:nvPr/>
        </p:nvSpPr>
        <p:spPr>
          <a:xfrm>
            <a:off x="5468112" y="1874520"/>
            <a:ext cx="1271016" cy="11887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text-embedding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-3-small</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1,536 dimensions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MD5 hash cache</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$0.34 total</a:t>
            </a:r>
            <a:endParaRPr lang="en-US" sz="1000" dirty="0"/>
          </a:p>
        </p:txBody>
      </p:sp>
      <p:sp>
        <p:nvSpPr>
          <p:cNvPr id="31" name="Text 22"/>
          <p:cNvSpPr/>
          <p:nvPr/>
        </p:nvSpPr>
        <p:spPr>
          <a:xfrm>
            <a:off x="5394960" y="3154680"/>
            <a:ext cx="1417320" cy="201168"/>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embeddings.py</a:t>
            </a:r>
            <a:endParaRPr lang="en-US" sz="800" dirty="0"/>
          </a:p>
        </p:txBody>
      </p:sp>
      <p:pic>
        <p:nvPicPr>
          <p:cNvPr id="32" name="Image 7" descr="preencoded.png"/>
          <p:cNvPicPr>
            <a:picLocks noChangeAspect="1"/>
          </p:cNvPicPr>
          <p:nvPr/>
        </p:nvPicPr>
        <p:blipFill>
          <a:blip r:embed="rId4"/>
          <a:stretch>
            <a:fillRect/>
          </a:stretch>
        </p:blipFill>
        <p:spPr>
          <a:xfrm>
            <a:off x="6830568" y="2107692"/>
            <a:ext cx="201168" cy="201168"/>
          </a:xfrm>
          <a:prstGeom prst="rect">
            <a:avLst/>
          </a:prstGeom>
        </p:spPr>
      </p:pic>
      <p:sp>
        <p:nvSpPr>
          <p:cNvPr id="33" name="Shape 23"/>
          <p:cNvSpPr/>
          <p:nvPr/>
        </p:nvSpPr>
        <p:spPr>
          <a:xfrm>
            <a:off x="7040880" y="1005840"/>
            <a:ext cx="1417320" cy="242316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34" name="Shape 24"/>
          <p:cNvSpPr/>
          <p:nvPr/>
        </p:nvSpPr>
        <p:spPr>
          <a:xfrm>
            <a:off x="7040880" y="1005840"/>
            <a:ext cx="1417320" cy="54864"/>
          </a:xfrm>
          <a:prstGeom prst="rect">
            <a:avLst/>
          </a:prstGeom>
          <a:solidFill>
            <a:srgbClr val="0D4F6B"/>
          </a:solidFill>
          <a:ln/>
        </p:spPr>
        <p:txBody>
          <a:bodyPr/>
          <a:p/>
        </p:txBody>
      </p:sp>
      <p:pic>
        <p:nvPicPr>
          <p:cNvPr id="35" name="Image 8" descr="preencoded.png"/>
          <p:cNvPicPr>
            <a:picLocks noChangeAspect="1"/>
          </p:cNvPicPr>
          <p:nvPr/>
        </p:nvPicPr>
        <p:blipFill>
          <a:blip r:embed="rId8"/>
          <a:stretch>
            <a:fillRect/>
          </a:stretch>
        </p:blipFill>
        <p:spPr>
          <a:xfrm>
            <a:off x="7594092" y="1207008"/>
            <a:ext cx="310896" cy="310896"/>
          </a:xfrm>
          <a:prstGeom prst="rect">
            <a:avLst/>
          </a:prstGeom>
        </p:spPr>
      </p:pic>
      <p:sp>
        <p:nvSpPr>
          <p:cNvPr id="36" name="Text 25"/>
          <p:cNvSpPr/>
          <p:nvPr/>
        </p:nvSpPr>
        <p:spPr>
          <a:xfrm>
            <a:off x="7040880" y="1572768"/>
            <a:ext cx="1417320"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Index</a:t>
            </a:r>
            <a:endParaRPr lang="en-US" sz="1300" dirty="0"/>
          </a:p>
        </p:txBody>
      </p:sp>
      <p:sp>
        <p:nvSpPr>
          <p:cNvPr id="37" name="Text 26"/>
          <p:cNvSpPr/>
          <p:nvPr/>
        </p:nvSpPr>
        <p:spPr>
          <a:xfrm>
            <a:off x="7114032" y="1874520"/>
            <a:ext cx="1271016" cy="11887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ChromaDB</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13,953 chunks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530 MB on disk</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Git LFS tracked</a:t>
            </a:r>
            <a:endParaRPr lang="en-US" sz="1000" dirty="0"/>
          </a:p>
        </p:txBody>
      </p:sp>
      <p:sp>
        <p:nvSpPr>
          <p:cNvPr id="38" name="Text 27"/>
          <p:cNvSpPr/>
          <p:nvPr/>
        </p:nvSpPr>
        <p:spPr>
          <a:xfrm>
            <a:off x="7040880" y="3154680"/>
            <a:ext cx="1417320" cy="201168"/>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index.py</a:t>
            </a:r>
            <a:endParaRPr lang="en-US" sz="800" dirty="0"/>
          </a:p>
        </p:txBody>
      </p:sp>
      <p:sp>
        <p:nvSpPr>
          <p:cNvPr id="39" name="Shape 28"/>
          <p:cNvSpPr/>
          <p:nvPr/>
        </p:nvSpPr>
        <p:spPr>
          <a:xfrm>
            <a:off x="457200" y="3703320"/>
            <a:ext cx="8229600" cy="594360"/>
          </a:xfrm>
          <a:prstGeom prst="rect">
            <a:avLst/>
          </a:prstGeom>
          <a:solidFill>
            <a:srgbClr val="F0F4F7"/>
          </a:solidFill>
          <a:ln w="6350">
            <a:solidFill>
              <a:srgbClr val="E2E8F0"/>
            </a:solidFill>
            <a:prstDash val="solid"/>
          </a:ln>
        </p:spPr>
        <p:txBody>
          <a:bodyPr/>
          <a:p/>
        </p:txBody>
      </p:sp>
      <p:pic>
        <p:nvPicPr>
          <p:cNvPr id="40" name="Image 9" descr="preencoded.png"/>
          <p:cNvPicPr>
            <a:picLocks noChangeAspect="1"/>
          </p:cNvPicPr>
          <p:nvPr/>
        </p:nvPicPr>
        <p:blipFill>
          <a:blip r:embed="rId9"/>
          <a:stretch>
            <a:fillRect/>
          </a:stretch>
        </p:blipFill>
        <p:spPr>
          <a:xfrm>
            <a:off x="640080" y="3813048"/>
            <a:ext cx="274320" cy="274320"/>
          </a:xfrm>
          <a:prstGeom prst="rect">
            <a:avLst/>
          </a:prstGeom>
        </p:spPr>
      </p:pic>
      <p:sp>
        <p:nvSpPr>
          <p:cNvPr id="41" name="Text 29"/>
          <p:cNvSpPr/>
          <p:nvPr/>
        </p:nvSpPr>
        <p:spPr>
          <a:xfrm>
            <a:off x="1005840" y="3730752"/>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Sector enrichment</a:t>
            </a:r>
            <a:endParaRPr lang="en-US" sz="1100" dirty="0"/>
          </a:p>
        </p:txBody>
      </p:sp>
      <p:sp>
        <p:nvSpPr>
          <p:cNvPr id="42" name="Text 30"/>
          <p:cNvSpPr/>
          <p:nvPr/>
        </p:nvSpPr>
        <p:spPr>
          <a:xfrm>
            <a:off x="1005840" y="3977640"/>
            <a:ext cx="59436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CIK → edgartools SIC lookup → 2-digit major group → sector mapping → cached to JSON</a:t>
            </a:r>
            <a:endParaRPr lang="en-US" sz="950" dirty="0"/>
          </a:p>
        </p:txBody>
      </p:sp>
      <p:sp>
        <p:nvSpPr>
          <p:cNvPr id="43" name="Text 31"/>
          <p:cNvSpPr/>
          <p:nvPr/>
        </p:nvSpPr>
        <p:spPr>
          <a:xfrm>
            <a:off x="6858000" y="3794760"/>
            <a:ext cx="1645920" cy="411480"/>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sector_lookup.py</a:t>
            </a:r>
            <a:endParaRPr lang="en-US" sz="800" dirty="0"/>
          </a:p>
        </p:txBody>
      </p:sp>
      <p:sp>
        <p:nvSpPr>
          <p:cNvPr id="44" name="Text 32"/>
          <p:cNvSpPr/>
          <p:nvPr/>
        </p:nvSpPr>
        <p:spPr>
          <a:xfrm>
            <a:off x="457200" y="4480560"/>
            <a:ext cx="8229600"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246 filings → 3,001 sections → 13,953 chunks, each with 18 metadata fields  |  Embedding cost: $0.34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332"/>
          </a:solidFill>
          <a:ln/>
        </p:spPr>
        <p:txBody>
          <a:bodyPr/>
          <a:p/>
        </p:txBody>
      </p:sp>
      <p:sp>
        <p:nvSpPr>
          <p:cNvPr id="3" name="Text 1"/>
          <p:cNvSpPr/>
          <p:nvPr/>
        </p:nvSpPr>
        <p:spPr>
          <a:xfrm>
            <a:off x="548640" y="45720"/>
            <a:ext cx="5486400" cy="502920"/>
          </a:xfrm>
          <a:prstGeom prst="rect">
            <a:avLst/>
          </a:prstGeom>
          <a:noFill/>
          <a:ln/>
        </p:spPr>
        <p:txBody>
          <a:bodyPr wrap="square" lIns="0" tIns="0" rIns="0" bIns="0" rtlCol="0" anchor="ctr"/>
          <a:lstStyle/>
          <a:p>
            <a:pPr marL="0" indent="0">
              <a:buNone/>
            </a:pPr>
            <a:r>
              <a:rPr lang="en-US" sz="1600" b="1" kern="0" spc="300" dirty="0">
                <a:solidFill>
                  <a:srgbClr val="FFFFFF"/>
                </a:solidFill>
                <a:latin typeface="Trebuchet MS" pitchFamily="34" charset="0"/>
                <a:ea typeface="Trebuchet MS" pitchFamily="34" charset="-122"/>
                <a:cs typeface="Trebuchet MS" pitchFamily="34" charset="-120"/>
              </a:rPr>
              <a:t>QUERY-TIME PIPELINE</a:t>
            </a:r>
            <a:endParaRPr lang="en-US" sz="1600" dirty="0"/>
          </a:p>
        </p:txBody>
      </p:sp>
      <p:sp>
        <p:nvSpPr>
          <p:cNvPr id="4" name="Text 2"/>
          <p:cNvSpPr/>
          <p:nvPr/>
        </p:nvSpPr>
        <p:spPr>
          <a:xfrm>
            <a:off x="5029200" y="45720"/>
            <a:ext cx="3657600" cy="502920"/>
          </a:xfrm>
          <a:prstGeom prst="rect">
            <a:avLst/>
          </a:prstGeom>
          <a:noFill/>
          <a:ln/>
        </p:spPr>
        <p:txBody>
          <a:bodyPr wrap="square" lIns="0" tIns="0" rIns="0" bIns="0" rtlCol="0" anchor="ctr"/>
          <a:lstStyle/>
          <a:p>
            <a:pPr marL="0" indent="0" algn="r">
              <a:buNone/>
            </a:pPr>
            <a:r>
              <a:rPr lang="en-US" sz="1200" i="1" dirty="0">
                <a:solidFill>
                  <a:srgbClr val="94A3B8"/>
                </a:solidFill>
                <a:latin typeface="Calibri" pitchFamily="34" charset="0"/>
                <a:ea typeface="Calibri" pitchFamily="34" charset="-122"/>
                <a:cs typeface="Calibri" pitchFamily="34" charset="-120"/>
              </a:rPr>
              <a:t>single LLM call per question</a:t>
            </a:r>
            <a:endParaRPr lang="en-US" sz="1200" dirty="0"/>
          </a:p>
        </p:txBody>
      </p:sp>
      <p:sp>
        <p:nvSpPr>
          <p:cNvPr id="5" name="Shape 3"/>
          <p:cNvSpPr/>
          <p:nvPr/>
        </p:nvSpPr>
        <p:spPr>
          <a:xfrm>
            <a:off x="457200" y="868680"/>
            <a:ext cx="1417320" cy="210312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6" name="Shape 4"/>
          <p:cNvSpPr/>
          <p:nvPr/>
        </p:nvSpPr>
        <p:spPr>
          <a:xfrm>
            <a:off x="457200" y="868680"/>
            <a:ext cx="1417320" cy="54864"/>
          </a:xfrm>
          <a:prstGeom prst="rect">
            <a:avLst/>
          </a:prstGeom>
          <a:solidFill>
            <a:srgbClr val="0F7B93"/>
          </a:solidFill>
          <a:ln/>
        </p:spPr>
        <p:txBody>
          <a:bodyPr/>
          <a:p/>
        </p:txBody>
      </p:sp>
      <p:pic>
        <p:nvPicPr>
          <p:cNvPr id="7" name="Image 0" descr="preencoded.png"/>
          <p:cNvPicPr>
            <a:picLocks noChangeAspect="1"/>
          </p:cNvPicPr>
          <p:nvPr/>
        </p:nvPicPr>
        <p:blipFill>
          <a:blip r:embed="rId3"/>
          <a:stretch>
            <a:fillRect/>
          </a:stretch>
        </p:blipFill>
        <p:spPr>
          <a:xfrm>
            <a:off x="1010412" y="1033272"/>
            <a:ext cx="310896" cy="310896"/>
          </a:xfrm>
          <a:prstGeom prst="rect">
            <a:avLst/>
          </a:prstGeom>
        </p:spPr>
      </p:pic>
      <p:sp>
        <p:nvSpPr>
          <p:cNvPr id="8" name="Text 5"/>
          <p:cNvSpPr/>
          <p:nvPr/>
        </p:nvSpPr>
        <p:spPr>
          <a:xfrm>
            <a:off x="457200" y="1371600"/>
            <a:ext cx="14173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Parse query</a:t>
            </a:r>
            <a:endParaRPr lang="en-US" sz="1300" dirty="0"/>
          </a:p>
        </p:txBody>
      </p:sp>
      <p:sp>
        <p:nvSpPr>
          <p:cNvPr id="9" name="Text 6"/>
          <p:cNvSpPr/>
          <p:nvPr/>
        </p:nvSpPr>
        <p:spPr>
          <a:xfrm>
            <a:off x="530352" y="1673352"/>
            <a:ext cx="1271016" cy="9601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Extract tickers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(name aliases)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Sector hints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Section hints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Filing type/year</a:t>
            </a:r>
            <a:endParaRPr lang="en-US" sz="1000" dirty="0"/>
          </a:p>
        </p:txBody>
      </p:sp>
      <p:sp>
        <p:nvSpPr>
          <p:cNvPr id="10" name="Text 7"/>
          <p:cNvSpPr/>
          <p:nvPr/>
        </p:nvSpPr>
        <p:spPr>
          <a:xfrm>
            <a:off x="457200" y="2715768"/>
            <a:ext cx="1417320" cy="182880"/>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retriever.py</a:t>
            </a:r>
            <a:endParaRPr lang="en-US" sz="800" dirty="0"/>
          </a:p>
        </p:txBody>
      </p:sp>
      <p:pic>
        <p:nvPicPr>
          <p:cNvPr id="11" name="Image 1" descr="preencoded.png"/>
          <p:cNvPicPr>
            <a:picLocks noChangeAspect="1"/>
          </p:cNvPicPr>
          <p:nvPr/>
        </p:nvPicPr>
        <p:blipFill>
          <a:blip r:embed="rId4"/>
          <a:stretch>
            <a:fillRect/>
          </a:stretch>
        </p:blipFill>
        <p:spPr>
          <a:xfrm>
            <a:off x="1892808" y="1810512"/>
            <a:ext cx="201168" cy="201168"/>
          </a:xfrm>
          <a:prstGeom prst="rect">
            <a:avLst/>
          </a:prstGeom>
        </p:spPr>
      </p:pic>
      <p:sp>
        <p:nvSpPr>
          <p:cNvPr id="12" name="Shape 8"/>
          <p:cNvSpPr/>
          <p:nvPr/>
        </p:nvSpPr>
        <p:spPr>
          <a:xfrm>
            <a:off x="2103120" y="868680"/>
            <a:ext cx="1417320" cy="210312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13" name="Shape 9"/>
          <p:cNvSpPr/>
          <p:nvPr/>
        </p:nvSpPr>
        <p:spPr>
          <a:xfrm>
            <a:off x="2103120" y="868680"/>
            <a:ext cx="1417320" cy="54864"/>
          </a:xfrm>
          <a:prstGeom prst="rect">
            <a:avLst/>
          </a:prstGeom>
          <a:solidFill>
            <a:srgbClr val="DC4F3F"/>
          </a:solidFill>
          <a:ln/>
        </p:spPr>
        <p:txBody>
          <a:bodyPr/>
          <a:p/>
        </p:txBody>
      </p:sp>
      <p:pic>
        <p:nvPicPr>
          <p:cNvPr id="14" name="Image 2" descr="preencoded.png"/>
          <p:cNvPicPr>
            <a:picLocks noChangeAspect="1"/>
          </p:cNvPicPr>
          <p:nvPr/>
        </p:nvPicPr>
        <p:blipFill>
          <a:blip r:embed="rId5"/>
          <a:stretch>
            <a:fillRect/>
          </a:stretch>
        </p:blipFill>
        <p:spPr>
          <a:xfrm>
            <a:off x="2656332" y="1033272"/>
            <a:ext cx="310896" cy="310896"/>
          </a:xfrm>
          <a:prstGeom prst="rect">
            <a:avLst/>
          </a:prstGeom>
        </p:spPr>
      </p:pic>
      <p:sp>
        <p:nvSpPr>
          <p:cNvPr id="15" name="Text 10"/>
          <p:cNvSpPr/>
          <p:nvPr/>
        </p:nvSpPr>
        <p:spPr>
          <a:xfrm>
            <a:off x="2103120" y="1371600"/>
            <a:ext cx="14173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Access control</a:t>
            </a:r>
            <a:endParaRPr lang="en-US" sz="1300" dirty="0"/>
          </a:p>
        </p:txBody>
      </p:sp>
      <p:sp>
        <p:nvSpPr>
          <p:cNvPr id="16" name="Text 11"/>
          <p:cNvSpPr/>
          <p:nvPr/>
        </p:nvSpPr>
        <p:spPr>
          <a:xfrm>
            <a:off x="2176272" y="1673352"/>
            <a:ext cx="1271016" cy="9601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Role-based filter</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applied at DB layer</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before search</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Admin / Analyst</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 Restricted</a:t>
            </a:r>
            <a:endParaRPr lang="en-US" sz="1000" dirty="0"/>
          </a:p>
        </p:txBody>
      </p:sp>
      <p:sp>
        <p:nvSpPr>
          <p:cNvPr id="17" name="Text 12"/>
          <p:cNvSpPr/>
          <p:nvPr/>
        </p:nvSpPr>
        <p:spPr>
          <a:xfrm>
            <a:off x="2103120" y="2715768"/>
            <a:ext cx="1417320" cy="182880"/>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auth.py</a:t>
            </a:r>
            <a:endParaRPr lang="en-US" sz="800" dirty="0"/>
          </a:p>
        </p:txBody>
      </p:sp>
      <p:pic>
        <p:nvPicPr>
          <p:cNvPr id="18" name="Image 3" descr="preencoded.png"/>
          <p:cNvPicPr>
            <a:picLocks noChangeAspect="1"/>
          </p:cNvPicPr>
          <p:nvPr/>
        </p:nvPicPr>
        <p:blipFill>
          <a:blip r:embed="rId4"/>
          <a:stretch>
            <a:fillRect/>
          </a:stretch>
        </p:blipFill>
        <p:spPr>
          <a:xfrm>
            <a:off x="3538728" y="1810512"/>
            <a:ext cx="201168" cy="201168"/>
          </a:xfrm>
          <a:prstGeom prst="rect">
            <a:avLst/>
          </a:prstGeom>
        </p:spPr>
      </p:pic>
      <p:sp>
        <p:nvSpPr>
          <p:cNvPr id="19" name="Shape 13"/>
          <p:cNvSpPr/>
          <p:nvPr/>
        </p:nvSpPr>
        <p:spPr>
          <a:xfrm>
            <a:off x="3749040" y="868680"/>
            <a:ext cx="1417320" cy="210312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0" name="Shape 14"/>
          <p:cNvSpPr/>
          <p:nvPr/>
        </p:nvSpPr>
        <p:spPr>
          <a:xfrm>
            <a:off x="3749040" y="868680"/>
            <a:ext cx="1417320" cy="54864"/>
          </a:xfrm>
          <a:prstGeom prst="rect">
            <a:avLst/>
          </a:prstGeom>
          <a:solidFill>
            <a:srgbClr val="0D4F6B"/>
          </a:solidFill>
          <a:ln/>
        </p:spPr>
        <p:txBody>
          <a:bodyPr/>
          <a:p/>
        </p:txBody>
      </p:sp>
      <p:pic>
        <p:nvPicPr>
          <p:cNvPr id="21" name="Image 4" descr="preencoded.png"/>
          <p:cNvPicPr>
            <a:picLocks noChangeAspect="1"/>
          </p:cNvPicPr>
          <p:nvPr/>
        </p:nvPicPr>
        <p:blipFill>
          <a:blip r:embed="rId6"/>
          <a:stretch>
            <a:fillRect/>
          </a:stretch>
        </p:blipFill>
        <p:spPr>
          <a:xfrm>
            <a:off x="4302252" y="1033272"/>
            <a:ext cx="310896" cy="310896"/>
          </a:xfrm>
          <a:prstGeom prst="rect">
            <a:avLst/>
          </a:prstGeom>
        </p:spPr>
      </p:pic>
      <p:sp>
        <p:nvSpPr>
          <p:cNvPr id="22" name="Text 15"/>
          <p:cNvSpPr/>
          <p:nvPr/>
        </p:nvSpPr>
        <p:spPr>
          <a:xfrm>
            <a:off x="3749040" y="1371600"/>
            <a:ext cx="14173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Retrieve</a:t>
            </a:r>
            <a:endParaRPr lang="en-US" sz="1300" dirty="0"/>
          </a:p>
        </p:txBody>
      </p:sp>
      <p:sp>
        <p:nvSpPr>
          <p:cNvPr id="23" name="Text 16"/>
          <p:cNvSpPr/>
          <p:nvPr/>
        </p:nvSpPr>
        <p:spPr>
          <a:xfrm>
            <a:off x="3822192" y="1673352"/>
            <a:ext cx="1271016" cy="9601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Balanced per-ticker</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semantic search</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Section filtering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with fallback</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Top 30 → 18 chunks</a:t>
            </a:r>
            <a:endParaRPr lang="en-US" sz="1000" dirty="0"/>
          </a:p>
        </p:txBody>
      </p:sp>
      <p:sp>
        <p:nvSpPr>
          <p:cNvPr id="24" name="Text 17"/>
          <p:cNvSpPr/>
          <p:nvPr/>
        </p:nvSpPr>
        <p:spPr>
          <a:xfrm>
            <a:off x="3749040" y="2715768"/>
            <a:ext cx="1417320" cy="182880"/>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retriever.py</a:t>
            </a:r>
            <a:endParaRPr lang="en-US" sz="800" dirty="0"/>
          </a:p>
        </p:txBody>
      </p:sp>
      <p:pic>
        <p:nvPicPr>
          <p:cNvPr id="25" name="Image 5" descr="preencoded.png"/>
          <p:cNvPicPr>
            <a:picLocks noChangeAspect="1"/>
          </p:cNvPicPr>
          <p:nvPr/>
        </p:nvPicPr>
        <p:blipFill>
          <a:blip r:embed="rId4"/>
          <a:stretch>
            <a:fillRect/>
          </a:stretch>
        </p:blipFill>
        <p:spPr>
          <a:xfrm>
            <a:off x="5184648" y="1810512"/>
            <a:ext cx="201168" cy="201168"/>
          </a:xfrm>
          <a:prstGeom prst="rect">
            <a:avLst/>
          </a:prstGeom>
        </p:spPr>
      </p:pic>
      <p:sp>
        <p:nvSpPr>
          <p:cNvPr id="26" name="Shape 18"/>
          <p:cNvSpPr/>
          <p:nvPr/>
        </p:nvSpPr>
        <p:spPr>
          <a:xfrm>
            <a:off x="5394960" y="868680"/>
            <a:ext cx="1417320" cy="210312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7" name="Shape 19"/>
          <p:cNvSpPr/>
          <p:nvPr/>
        </p:nvSpPr>
        <p:spPr>
          <a:xfrm>
            <a:off x="5394960" y="868680"/>
            <a:ext cx="1417320" cy="54864"/>
          </a:xfrm>
          <a:prstGeom prst="rect">
            <a:avLst/>
          </a:prstGeom>
          <a:solidFill>
            <a:srgbClr val="0F7B93"/>
          </a:solidFill>
          <a:ln/>
        </p:spPr>
        <p:txBody>
          <a:bodyPr/>
          <a:p/>
        </p:txBody>
      </p:sp>
      <p:pic>
        <p:nvPicPr>
          <p:cNvPr id="28" name="Image 6" descr="preencoded.png"/>
          <p:cNvPicPr>
            <a:picLocks noChangeAspect="1"/>
          </p:cNvPicPr>
          <p:nvPr/>
        </p:nvPicPr>
        <p:blipFill>
          <a:blip r:embed="rId7"/>
          <a:stretch>
            <a:fillRect/>
          </a:stretch>
        </p:blipFill>
        <p:spPr>
          <a:xfrm>
            <a:off x="5948172" y="1033272"/>
            <a:ext cx="310896" cy="310896"/>
          </a:xfrm>
          <a:prstGeom prst="rect">
            <a:avLst/>
          </a:prstGeom>
        </p:spPr>
      </p:pic>
      <p:sp>
        <p:nvSpPr>
          <p:cNvPr id="29" name="Text 20"/>
          <p:cNvSpPr/>
          <p:nvPr/>
        </p:nvSpPr>
        <p:spPr>
          <a:xfrm>
            <a:off x="5394960" y="1371600"/>
            <a:ext cx="14173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Generate</a:t>
            </a:r>
            <a:endParaRPr lang="en-US" sz="1300" dirty="0"/>
          </a:p>
        </p:txBody>
      </p:sp>
      <p:sp>
        <p:nvSpPr>
          <p:cNvPr id="30" name="Text 21"/>
          <p:cNvSpPr/>
          <p:nvPr/>
        </p:nvSpPr>
        <p:spPr>
          <a:xfrm>
            <a:off x="5468112" y="1673352"/>
            <a:ext cx="1271016" cy="9601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Grounding rules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Citation format</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Single LLM call</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Streaming output</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Multi-provider</a:t>
            </a:r>
            <a:endParaRPr lang="en-US" sz="1000" dirty="0"/>
          </a:p>
        </p:txBody>
      </p:sp>
      <p:sp>
        <p:nvSpPr>
          <p:cNvPr id="31" name="Text 22"/>
          <p:cNvSpPr/>
          <p:nvPr/>
        </p:nvSpPr>
        <p:spPr>
          <a:xfrm>
            <a:off x="5394960" y="2715768"/>
            <a:ext cx="1417320" cy="182880"/>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prompt.py + llm.py</a:t>
            </a:r>
            <a:endParaRPr lang="en-US" sz="800" dirty="0"/>
          </a:p>
        </p:txBody>
      </p:sp>
      <p:pic>
        <p:nvPicPr>
          <p:cNvPr id="32" name="Image 7" descr="preencoded.png"/>
          <p:cNvPicPr>
            <a:picLocks noChangeAspect="1"/>
          </p:cNvPicPr>
          <p:nvPr/>
        </p:nvPicPr>
        <p:blipFill>
          <a:blip r:embed="rId4"/>
          <a:stretch>
            <a:fillRect/>
          </a:stretch>
        </p:blipFill>
        <p:spPr>
          <a:xfrm>
            <a:off x="6830568" y="1810512"/>
            <a:ext cx="201168" cy="201168"/>
          </a:xfrm>
          <a:prstGeom prst="rect">
            <a:avLst/>
          </a:prstGeom>
        </p:spPr>
      </p:pic>
      <p:sp>
        <p:nvSpPr>
          <p:cNvPr id="33" name="Shape 23"/>
          <p:cNvSpPr/>
          <p:nvPr/>
        </p:nvSpPr>
        <p:spPr>
          <a:xfrm>
            <a:off x="7040880" y="868680"/>
            <a:ext cx="1417320" cy="2103120"/>
          </a:xfrm>
          <a:prstGeom prst="rect">
            <a:avLst/>
          </a:prstGeom>
          <a:solidFill>
            <a:srgbClr val="F0F4F7"/>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34" name="Shape 24"/>
          <p:cNvSpPr/>
          <p:nvPr/>
        </p:nvSpPr>
        <p:spPr>
          <a:xfrm>
            <a:off x="7040880" y="868680"/>
            <a:ext cx="1417320" cy="54864"/>
          </a:xfrm>
          <a:prstGeom prst="rect">
            <a:avLst/>
          </a:prstGeom>
          <a:solidFill>
            <a:srgbClr val="D97706"/>
          </a:solidFill>
          <a:ln/>
        </p:spPr>
        <p:txBody>
          <a:bodyPr/>
          <a:p/>
        </p:txBody>
      </p:sp>
      <p:pic>
        <p:nvPicPr>
          <p:cNvPr id="35" name="Image 8" descr="preencoded.png"/>
          <p:cNvPicPr>
            <a:picLocks noChangeAspect="1"/>
          </p:cNvPicPr>
          <p:nvPr/>
        </p:nvPicPr>
        <p:blipFill>
          <a:blip r:embed="rId8"/>
          <a:stretch>
            <a:fillRect/>
          </a:stretch>
        </p:blipFill>
        <p:spPr>
          <a:xfrm>
            <a:off x="7594092" y="1033272"/>
            <a:ext cx="310896" cy="310896"/>
          </a:xfrm>
          <a:prstGeom prst="rect">
            <a:avLst/>
          </a:prstGeom>
        </p:spPr>
      </p:pic>
      <p:sp>
        <p:nvSpPr>
          <p:cNvPr id="36" name="Text 25"/>
          <p:cNvSpPr/>
          <p:nvPr/>
        </p:nvSpPr>
        <p:spPr>
          <a:xfrm>
            <a:off x="7040880" y="1371600"/>
            <a:ext cx="14173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Audit &amp; cite</a:t>
            </a:r>
            <a:endParaRPr lang="en-US" sz="1300" dirty="0"/>
          </a:p>
        </p:txBody>
      </p:sp>
      <p:sp>
        <p:nvSpPr>
          <p:cNvPr id="37" name="Text 26"/>
          <p:cNvSpPr/>
          <p:nvPr/>
        </p:nvSpPr>
        <p:spPr>
          <a:xfrm>
            <a:off x="7114032" y="1673352"/>
            <a:ext cx="1271016" cy="960120"/>
          </a:xfrm>
          <a:prstGeom prst="rect">
            <a:avLst/>
          </a:prstGeom>
          <a:noFill/>
          <a:ln/>
        </p:spPr>
        <p:txBody>
          <a:bodyPr wrap="square" lIns="0" tIns="0" rIns="0" bIns="0" rtlCol="0" anchor="t"/>
          <a:lstStyle/>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SQLite log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User + query</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Chunks + tokens</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Latency tracking</a:t>
            </a:r>
            <a:endParaRPr lang="en-US" sz="1000" dirty="0"/>
          </a:p>
          <a:p>
            <a:pPr marL="0" indent="0" algn="ctr">
              <a:lnSpc>
                <a:spcPct val="115000"/>
              </a:lnSpc>
              <a:buNone/>
            </a:pPr>
            <a:r>
              <a:rPr lang="en-US" sz="1000" dirty="0">
                <a:solidFill>
                  <a:srgbClr val="64748B"/>
                </a:solidFill>
                <a:latin typeface="Calibri" pitchFamily="34" charset="0"/>
                <a:ea typeface="Calibri" pitchFamily="34" charset="-122"/>
                <a:cs typeface="Calibri" pitchFamily="34" charset="-120"/>
              </a:rPr>
              <a:t>Source citations</a:t>
            </a:r>
            <a:endParaRPr lang="en-US" sz="1000" dirty="0"/>
          </a:p>
        </p:txBody>
      </p:sp>
      <p:sp>
        <p:nvSpPr>
          <p:cNvPr id="38" name="Text 27"/>
          <p:cNvSpPr/>
          <p:nvPr/>
        </p:nvSpPr>
        <p:spPr>
          <a:xfrm>
            <a:off x="7040880" y="2715768"/>
            <a:ext cx="1417320" cy="182880"/>
          </a:xfrm>
          <a:prstGeom prst="rect">
            <a:avLst/>
          </a:prstGeom>
          <a:noFill/>
          <a:ln/>
        </p:spPr>
        <p:txBody>
          <a:bodyPr wrap="square" lIns="0" tIns="0" rIns="0" bIns="0" rtlCol="0" anchor="ctr"/>
          <a:lstStyle/>
          <a:p>
            <a:pPr marL="0" indent="0" algn="ctr">
              <a:buNone/>
            </a:pPr>
            <a:r>
              <a:rPr lang="en-US" sz="800" dirty="0">
                <a:solidFill>
                  <a:srgbClr val="94A3B8"/>
                </a:solidFill>
                <a:latin typeface="Consolas" pitchFamily="34" charset="0"/>
                <a:ea typeface="Consolas" pitchFamily="34" charset="-122"/>
                <a:cs typeface="Consolas" pitchFamily="34" charset="-120"/>
              </a:rPr>
              <a:t>audit.py + rag.py</a:t>
            </a:r>
            <a:endParaRPr lang="en-US" sz="800" dirty="0"/>
          </a:p>
        </p:txBody>
      </p:sp>
      <p:sp>
        <p:nvSpPr>
          <p:cNvPr id="39" name="Shape 28"/>
          <p:cNvSpPr/>
          <p:nvPr/>
        </p:nvSpPr>
        <p:spPr>
          <a:xfrm>
            <a:off x="457200" y="3246120"/>
            <a:ext cx="8229600" cy="502920"/>
          </a:xfrm>
          <a:prstGeom prst="rect">
            <a:avLst/>
          </a:prstGeom>
          <a:solidFill>
            <a:srgbClr val="F0F4F7"/>
          </a:solidFill>
          <a:ln w="6350">
            <a:solidFill>
              <a:srgbClr val="E2E8F0"/>
            </a:solidFill>
            <a:prstDash val="solid"/>
          </a:ln>
        </p:spPr>
        <p:txBody>
          <a:bodyPr/>
          <a:p/>
        </p:txBody>
      </p:sp>
      <p:sp>
        <p:nvSpPr>
          <p:cNvPr id="40" name="Text 29"/>
          <p:cNvSpPr/>
          <p:nvPr/>
        </p:nvSpPr>
        <p:spPr>
          <a:xfrm>
            <a:off x="640080" y="3273552"/>
            <a:ext cx="1371600" cy="4572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LLM providers</a:t>
            </a:r>
            <a:endParaRPr lang="en-US" sz="1100" dirty="0"/>
          </a:p>
        </p:txBody>
      </p:sp>
      <p:sp>
        <p:nvSpPr>
          <p:cNvPr id="41" name="Shape 30"/>
          <p:cNvSpPr/>
          <p:nvPr/>
        </p:nvSpPr>
        <p:spPr>
          <a:xfrm>
            <a:off x="2194560" y="3319272"/>
            <a:ext cx="1828800" cy="365760"/>
          </a:xfrm>
          <a:prstGeom prst="rect">
            <a:avLst/>
          </a:prstGeom>
          <a:solidFill>
            <a:srgbClr val="FFFFFF"/>
          </a:solidFill>
          <a:ln w="6350">
            <a:solidFill>
              <a:srgbClr val="E2E8F0"/>
            </a:solidFill>
            <a:prstDash val="solid"/>
          </a:ln>
        </p:spPr>
        <p:txBody>
          <a:bodyPr/>
          <a:p/>
        </p:txBody>
      </p:sp>
      <p:sp>
        <p:nvSpPr>
          <p:cNvPr id="42" name="Text 31"/>
          <p:cNvSpPr/>
          <p:nvPr/>
        </p:nvSpPr>
        <p:spPr>
          <a:xfrm>
            <a:off x="2194560" y="3319272"/>
            <a:ext cx="1828800" cy="36576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GPT-4o</a:t>
            </a:r>
            <a:r>
              <a:rPr lang="en-US" sz="900" dirty="0">
                <a:solidFill>
                  <a:srgbClr val="94A3B8"/>
                </a:solidFill>
                <a:latin typeface="Calibri" pitchFamily="34" charset="0"/>
                <a:ea typeface="Calibri" pitchFamily="34" charset="-122"/>
                <a:cs typeface="Calibri" pitchFamily="34" charset="-120"/>
              </a:rPr>
              <a:t xml:space="preserve">  OpenAI</a:t>
            </a:r>
            <a:endParaRPr lang="en-US" sz="1000" dirty="0"/>
          </a:p>
        </p:txBody>
      </p:sp>
      <p:sp>
        <p:nvSpPr>
          <p:cNvPr id="43" name="Shape 32"/>
          <p:cNvSpPr/>
          <p:nvPr/>
        </p:nvSpPr>
        <p:spPr>
          <a:xfrm>
            <a:off x="4297680" y="3319272"/>
            <a:ext cx="1828800" cy="365760"/>
          </a:xfrm>
          <a:prstGeom prst="rect">
            <a:avLst/>
          </a:prstGeom>
          <a:solidFill>
            <a:srgbClr val="FFFFFF"/>
          </a:solidFill>
          <a:ln w="6350">
            <a:solidFill>
              <a:srgbClr val="E2E8F0"/>
            </a:solidFill>
            <a:prstDash val="solid"/>
          </a:ln>
        </p:spPr>
        <p:txBody>
          <a:bodyPr/>
          <a:p/>
        </p:txBody>
      </p:sp>
      <p:sp>
        <p:nvSpPr>
          <p:cNvPr id="44" name="Text 33"/>
          <p:cNvSpPr/>
          <p:nvPr/>
        </p:nvSpPr>
        <p:spPr>
          <a:xfrm>
            <a:off x="4297680" y="3319272"/>
            <a:ext cx="1828800" cy="36576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Claude Sonnet</a:t>
            </a:r>
            <a:r>
              <a:rPr lang="en-US" sz="900" dirty="0">
                <a:solidFill>
                  <a:srgbClr val="94A3B8"/>
                </a:solidFill>
                <a:latin typeface="Calibri" pitchFamily="34" charset="0"/>
                <a:ea typeface="Calibri" pitchFamily="34" charset="-122"/>
                <a:cs typeface="Calibri" pitchFamily="34" charset="-120"/>
              </a:rPr>
              <a:t xml:space="preserve">  Anthropic</a:t>
            </a:r>
            <a:endParaRPr lang="en-US" sz="1000" dirty="0"/>
          </a:p>
        </p:txBody>
      </p:sp>
      <p:sp>
        <p:nvSpPr>
          <p:cNvPr id="45" name="Shape 34"/>
          <p:cNvSpPr/>
          <p:nvPr/>
        </p:nvSpPr>
        <p:spPr>
          <a:xfrm>
            <a:off x="6400800" y="3319272"/>
            <a:ext cx="1828800" cy="365760"/>
          </a:xfrm>
          <a:prstGeom prst="rect">
            <a:avLst/>
          </a:prstGeom>
          <a:solidFill>
            <a:srgbClr val="FFFFFF"/>
          </a:solidFill>
          <a:ln w="6350">
            <a:solidFill>
              <a:srgbClr val="E2E8F0"/>
            </a:solidFill>
            <a:prstDash val="solid"/>
          </a:ln>
        </p:spPr>
        <p:txBody>
          <a:bodyPr/>
          <a:p/>
        </p:txBody>
      </p:sp>
      <p:sp>
        <p:nvSpPr>
          <p:cNvPr id="46" name="Text 35"/>
          <p:cNvSpPr/>
          <p:nvPr/>
        </p:nvSpPr>
        <p:spPr>
          <a:xfrm>
            <a:off x="6400800" y="3319272"/>
            <a:ext cx="1828800" cy="36576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Gemini Flash</a:t>
            </a:r>
            <a:r>
              <a:rPr lang="en-US" sz="900" dirty="0">
                <a:solidFill>
                  <a:srgbClr val="94A3B8"/>
                </a:solidFill>
                <a:latin typeface="Calibri" pitchFamily="34" charset="0"/>
                <a:ea typeface="Calibri" pitchFamily="34" charset="-122"/>
                <a:cs typeface="Calibri" pitchFamily="34" charset="-120"/>
              </a:rPr>
              <a:t xml:space="preserve">  Google</a:t>
            </a:r>
            <a:endParaRPr lang="en-US" sz="1000" dirty="0"/>
          </a:p>
        </p:txBody>
      </p:sp>
      <p:sp>
        <p:nvSpPr>
          <p:cNvPr id="47" name="Shape 36"/>
          <p:cNvSpPr/>
          <p:nvPr/>
        </p:nvSpPr>
        <p:spPr>
          <a:xfrm>
            <a:off x="457200" y="3977640"/>
            <a:ext cx="8229600" cy="594360"/>
          </a:xfrm>
          <a:prstGeom prst="rect">
            <a:avLst/>
          </a:prstGeom>
          <a:solidFill>
            <a:srgbClr val="1A2332"/>
          </a:solidFill>
          <a:ln/>
        </p:spPr>
        <p:txBody>
          <a:bodyPr/>
          <a:p/>
        </p:txBody>
      </p:sp>
      <p:pic>
        <p:nvPicPr>
          <p:cNvPr id="48" name="Image 9" descr="preencoded.png"/>
          <p:cNvPicPr>
            <a:picLocks noChangeAspect="1"/>
          </p:cNvPicPr>
          <p:nvPr/>
        </p:nvPicPr>
        <p:blipFill>
          <a:blip r:embed="rId9"/>
          <a:stretch>
            <a:fillRect/>
          </a:stretch>
        </p:blipFill>
        <p:spPr>
          <a:xfrm>
            <a:off x="640080" y="4096512"/>
            <a:ext cx="256032" cy="256032"/>
          </a:xfrm>
          <a:prstGeom prst="rect">
            <a:avLst/>
          </a:prstGeom>
        </p:spPr>
      </p:pic>
      <p:sp>
        <p:nvSpPr>
          <p:cNvPr id="49" name="Text 37"/>
          <p:cNvSpPr/>
          <p:nvPr/>
        </p:nvSpPr>
        <p:spPr>
          <a:xfrm>
            <a:off x="987552" y="4005072"/>
            <a:ext cx="1097280" cy="5486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Output</a:t>
            </a:r>
            <a:endParaRPr lang="en-US" sz="1300" dirty="0"/>
          </a:p>
        </p:txBody>
      </p:sp>
      <p:sp>
        <p:nvSpPr>
          <p:cNvPr id="50" name="Shape 38"/>
          <p:cNvSpPr/>
          <p:nvPr/>
        </p:nvSpPr>
        <p:spPr>
          <a:xfrm>
            <a:off x="2103120" y="4096512"/>
            <a:ext cx="1463040" cy="320040"/>
          </a:xfrm>
          <a:prstGeom prst="rect">
            <a:avLst/>
          </a:prstGeom>
          <a:solidFill>
            <a:srgbClr val="0D4F6B"/>
          </a:solidFill>
          <a:ln/>
        </p:spPr>
        <p:txBody>
          <a:bodyPr/>
          <a:p/>
        </p:txBody>
      </p:sp>
      <p:sp>
        <p:nvSpPr>
          <p:cNvPr id="51" name="Text 39"/>
          <p:cNvSpPr/>
          <p:nvPr/>
        </p:nvSpPr>
        <p:spPr>
          <a:xfrm>
            <a:off x="2103120" y="4096512"/>
            <a:ext cx="1463040" cy="32004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Streamed answer</a:t>
            </a:r>
            <a:endParaRPr lang="en-US" sz="800" dirty="0"/>
          </a:p>
        </p:txBody>
      </p:sp>
      <p:sp>
        <p:nvSpPr>
          <p:cNvPr id="52" name="Shape 40"/>
          <p:cNvSpPr/>
          <p:nvPr/>
        </p:nvSpPr>
        <p:spPr>
          <a:xfrm>
            <a:off x="3703320" y="4096512"/>
            <a:ext cx="1463040" cy="320040"/>
          </a:xfrm>
          <a:prstGeom prst="rect">
            <a:avLst/>
          </a:prstGeom>
          <a:solidFill>
            <a:srgbClr val="0D4F6B"/>
          </a:solidFill>
          <a:ln/>
        </p:spPr>
        <p:txBody>
          <a:bodyPr/>
          <a:p/>
        </p:txBody>
      </p:sp>
      <p:sp>
        <p:nvSpPr>
          <p:cNvPr id="53" name="Text 41"/>
          <p:cNvSpPr/>
          <p:nvPr/>
        </p:nvSpPr>
        <p:spPr>
          <a:xfrm>
            <a:off x="3703320" y="4096512"/>
            <a:ext cx="1463040" cy="32004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[Company, Type, Date, Section] citations</a:t>
            </a:r>
            <a:endParaRPr lang="en-US" sz="800" dirty="0"/>
          </a:p>
        </p:txBody>
      </p:sp>
      <p:sp>
        <p:nvSpPr>
          <p:cNvPr id="54" name="Shape 42"/>
          <p:cNvSpPr/>
          <p:nvPr/>
        </p:nvSpPr>
        <p:spPr>
          <a:xfrm>
            <a:off x="5303520" y="4096512"/>
            <a:ext cx="1463040" cy="320040"/>
          </a:xfrm>
          <a:prstGeom prst="rect">
            <a:avLst/>
          </a:prstGeom>
          <a:solidFill>
            <a:srgbClr val="0D4F6B"/>
          </a:solidFill>
          <a:ln/>
        </p:spPr>
        <p:txBody>
          <a:bodyPr/>
          <a:p/>
        </p:txBody>
      </p:sp>
      <p:sp>
        <p:nvSpPr>
          <p:cNvPr id="55" name="Text 43"/>
          <p:cNvSpPr/>
          <p:nvPr/>
        </p:nvSpPr>
        <p:spPr>
          <a:xfrm>
            <a:off x="5303520" y="4096512"/>
            <a:ext cx="1463040" cy="32004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Pipeline trace</a:t>
            </a:r>
            <a:endParaRPr lang="en-US" sz="800" dirty="0"/>
          </a:p>
        </p:txBody>
      </p:sp>
      <p:sp>
        <p:nvSpPr>
          <p:cNvPr id="56" name="Shape 44"/>
          <p:cNvSpPr/>
          <p:nvPr/>
        </p:nvSpPr>
        <p:spPr>
          <a:xfrm>
            <a:off x="6903720" y="4096512"/>
            <a:ext cx="1463040" cy="320040"/>
          </a:xfrm>
          <a:prstGeom prst="rect">
            <a:avLst/>
          </a:prstGeom>
          <a:solidFill>
            <a:srgbClr val="0D4F6B"/>
          </a:solidFill>
          <a:ln/>
        </p:spPr>
        <p:txBody>
          <a:bodyPr/>
          <a:p/>
        </p:txBody>
      </p:sp>
      <p:sp>
        <p:nvSpPr>
          <p:cNvPr id="57" name="Text 45"/>
          <p:cNvSpPr/>
          <p:nvPr/>
        </p:nvSpPr>
        <p:spPr>
          <a:xfrm>
            <a:off x="6903720" y="4096512"/>
            <a:ext cx="1463040" cy="32004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Token usage + latency</a:t>
            </a:r>
            <a:endParaRPr lang="en-US" sz="800" dirty="0"/>
          </a:p>
        </p:txBody>
      </p:sp>
      <p:sp>
        <p:nvSpPr>
          <p:cNvPr id="58" name="Text 46"/>
          <p:cNvSpPr/>
          <p:nvPr/>
        </p:nvSpPr>
        <p:spPr>
          <a:xfrm>
            <a:off x="457200" y="4709160"/>
            <a:ext cx="822960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Filter-first retrieval: metadata filters applied BEFORE semantic search  -  irrelevant chunks never enter similarity calculation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332"/>
          </a:solidFill>
          <a:ln/>
        </p:spPr>
        <p:txBody>
          <a:bodyPr/>
          <a:p/>
        </p:txBody>
      </p:sp>
      <p:sp>
        <p:nvSpPr>
          <p:cNvPr id="3" name="Text 1"/>
          <p:cNvSpPr/>
          <p:nvPr/>
        </p:nvSpPr>
        <p:spPr>
          <a:xfrm>
            <a:off x="548640" y="45720"/>
            <a:ext cx="7315200" cy="502920"/>
          </a:xfrm>
          <a:prstGeom prst="rect">
            <a:avLst/>
          </a:prstGeom>
          <a:noFill/>
          <a:ln/>
        </p:spPr>
        <p:txBody>
          <a:bodyPr wrap="square" lIns="0" tIns="0" rIns="0" bIns="0" rtlCol="0" anchor="ctr"/>
          <a:lstStyle/>
          <a:p>
            <a:pPr marL="0" indent="0">
              <a:buNone/>
            </a:pPr>
            <a:r>
              <a:rPr lang="en-US" sz="1600" b="1" kern="0" spc="300" dirty="0">
                <a:solidFill>
                  <a:srgbClr val="FFFFFF"/>
                </a:solidFill>
                <a:latin typeface="Trebuchet MS" pitchFamily="34" charset="0"/>
                <a:ea typeface="Trebuchet MS" pitchFamily="34" charset="-122"/>
                <a:cs typeface="Trebuchet MS" pitchFamily="34" charset="-120"/>
              </a:rPr>
              <a:t>ENTERPRISE CAPABILITIES</a:t>
            </a:r>
            <a:endParaRPr lang="en-US" sz="1600" dirty="0"/>
          </a:p>
        </p:txBody>
      </p:sp>
      <p:sp>
        <p:nvSpPr>
          <p:cNvPr id="4" name="Shape 2"/>
          <p:cNvSpPr/>
          <p:nvPr/>
        </p:nvSpPr>
        <p:spPr>
          <a:xfrm>
            <a:off x="502920" y="77724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5" name="Shape 3"/>
          <p:cNvSpPr/>
          <p:nvPr/>
        </p:nvSpPr>
        <p:spPr>
          <a:xfrm>
            <a:off x="502920" y="777240"/>
            <a:ext cx="54864" cy="914400"/>
          </a:xfrm>
          <a:prstGeom prst="rect">
            <a:avLst/>
          </a:prstGeom>
          <a:solidFill>
            <a:srgbClr val="DC4F3F"/>
          </a:solidFill>
          <a:ln/>
        </p:spPr>
        <p:txBody>
          <a:bodyPr/>
          <a:p/>
        </p:txBody>
      </p:sp>
      <p:pic>
        <p:nvPicPr>
          <p:cNvPr id="6" name="Image 0" descr="preencoded.png"/>
          <p:cNvPicPr>
            <a:picLocks noChangeAspect="1"/>
          </p:cNvPicPr>
          <p:nvPr/>
        </p:nvPicPr>
        <p:blipFill>
          <a:blip r:embed="rId3"/>
          <a:stretch>
            <a:fillRect/>
          </a:stretch>
        </p:blipFill>
        <p:spPr>
          <a:xfrm>
            <a:off x="685800" y="1078992"/>
            <a:ext cx="310896" cy="310896"/>
          </a:xfrm>
          <a:prstGeom prst="rect">
            <a:avLst/>
          </a:prstGeom>
        </p:spPr>
      </p:pic>
      <p:sp>
        <p:nvSpPr>
          <p:cNvPr id="7" name="Text 4"/>
          <p:cNvSpPr/>
          <p:nvPr/>
        </p:nvSpPr>
        <p:spPr>
          <a:xfrm>
            <a:off x="1097280" y="85039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Role-based access control</a:t>
            </a:r>
            <a:endParaRPr lang="en-US" sz="1200" dirty="0"/>
          </a:p>
        </p:txBody>
      </p:sp>
      <p:sp>
        <p:nvSpPr>
          <p:cNvPr id="8" name="Text 5"/>
          <p:cNvSpPr/>
          <p:nvPr/>
        </p:nvSpPr>
        <p:spPr>
          <a:xfrm>
            <a:off x="1097280" y="112471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Admin, analyst, restricted roles with sector-level isolation. Enforced at the DB layer  -  restricted data never enters search results.</a:t>
            </a:r>
            <a:endParaRPr lang="en-US" sz="950" dirty="0"/>
          </a:p>
        </p:txBody>
      </p:sp>
      <p:sp>
        <p:nvSpPr>
          <p:cNvPr id="9" name="Shape 6"/>
          <p:cNvSpPr/>
          <p:nvPr/>
        </p:nvSpPr>
        <p:spPr>
          <a:xfrm>
            <a:off x="4709160" y="77724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10" name="Shape 7"/>
          <p:cNvSpPr/>
          <p:nvPr/>
        </p:nvSpPr>
        <p:spPr>
          <a:xfrm>
            <a:off x="4709160" y="777240"/>
            <a:ext cx="54864" cy="914400"/>
          </a:xfrm>
          <a:prstGeom prst="rect">
            <a:avLst/>
          </a:prstGeom>
          <a:solidFill>
            <a:srgbClr val="D97706"/>
          </a:solidFill>
          <a:ln/>
        </p:spPr>
        <p:txBody>
          <a:bodyPr/>
          <a:p/>
        </p:txBody>
      </p:sp>
      <p:pic>
        <p:nvPicPr>
          <p:cNvPr id="11" name="Image 1" descr="preencoded.png"/>
          <p:cNvPicPr>
            <a:picLocks noChangeAspect="1"/>
          </p:cNvPicPr>
          <p:nvPr/>
        </p:nvPicPr>
        <p:blipFill>
          <a:blip r:embed="rId4"/>
          <a:stretch>
            <a:fillRect/>
          </a:stretch>
        </p:blipFill>
        <p:spPr>
          <a:xfrm>
            <a:off x="4892040" y="1078992"/>
            <a:ext cx="310896" cy="310896"/>
          </a:xfrm>
          <a:prstGeom prst="rect">
            <a:avLst/>
          </a:prstGeom>
        </p:spPr>
      </p:pic>
      <p:sp>
        <p:nvSpPr>
          <p:cNvPr id="12" name="Text 8"/>
          <p:cNvSpPr/>
          <p:nvPr/>
        </p:nvSpPr>
        <p:spPr>
          <a:xfrm>
            <a:off x="5303520" y="85039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Multi-tenant architecture</a:t>
            </a:r>
            <a:endParaRPr lang="en-US" sz="1200" dirty="0"/>
          </a:p>
        </p:txBody>
      </p:sp>
      <p:sp>
        <p:nvSpPr>
          <p:cNvPr id="13" name="Text 9"/>
          <p:cNvSpPr/>
          <p:nvPr/>
        </p:nvSpPr>
        <p:spPr>
          <a:xfrm>
            <a:off x="5303520" y="112471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Tenant ID on every chunk. Access filters applied before semantic search. SSO/OAuth ready for production.</a:t>
            </a:r>
            <a:endParaRPr lang="en-US" sz="950" dirty="0"/>
          </a:p>
        </p:txBody>
      </p:sp>
      <p:sp>
        <p:nvSpPr>
          <p:cNvPr id="14" name="Shape 10"/>
          <p:cNvSpPr/>
          <p:nvPr/>
        </p:nvSpPr>
        <p:spPr>
          <a:xfrm>
            <a:off x="502920" y="182880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15" name="Shape 11"/>
          <p:cNvSpPr/>
          <p:nvPr/>
        </p:nvSpPr>
        <p:spPr>
          <a:xfrm>
            <a:off x="502920" y="1828800"/>
            <a:ext cx="54864" cy="914400"/>
          </a:xfrm>
          <a:prstGeom prst="rect">
            <a:avLst/>
          </a:prstGeom>
          <a:solidFill>
            <a:srgbClr val="0D4F6B"/>
          </a:solidFill>
          <a:ln/>
        </p:spPr>
        <p:txBody>
          <a:bodyPr/>
          <a:p/>
        </p:txBody>
      </p:sp>
      <p:pic>
        <p:nvPicPr>
          <p:cNvPr id="16" name="Image 2" descr="preencoded.png"/>
          <p:cNvPicPr>
            <a:picLocks noChangeAspect="1"/>
          </p:cNvPicPr>
          <p:nvPr/>
        </p:nvPicPr>
        <p:blipFill>
          <a:blip r:embed="rId5"/>
          <a:stretch>
            <a:fillRect/>
          </a:stretch>
        </p:blipFill>
        <p:spPr>
          <a:xfrm>
            <a:off x="685800" y="2130552"/>
            <a:ext cx="310896" cy="310896"/>
          </a:xfrm>
          <a:prstGeom prst="rect">
            <a:avLst/>
          </a:prstGeom>
        </p:spPr>
      </p:pic>
      <p:sp>
        <p:nvSpPr>
          <p:cNvPr id="17" name="Text 12"/>
          <p:cNvSpPr/>
          <p:nvPr/>
        </p:nvSpPr>
        <p:spPr>
          <a:xfrm>
            <a:off x="1097280" y="190195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Full audit trail</a:t>
            </a:r>
            <a:endParaRPr lang="en-US" sz="1200" dirty="0"/>
          </a:p>
        </p:txBody>
      </p:sp>
      <p:sp>
        <p:nvSpPr>
          <p:cNvPr id="18" name="Text 13"/>
          <p:cNvSpPr/>
          <p:nvPr/>
        </p:nvSpPr>
        <p:spPr>
          <a:xfrm>
            <a:off x="1097280" y="217627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Every query logged: user identity, chunks retrieved, LLM model, token usage, latency, response text. Compliance-ready schema.</a:t>
            </a:r>
            <a:endParaRPr lang="en-US" sz="950" dirty="0"/>
          </a:p>
        </p:txBody>
      </p:sp>
      <p:sp>
        <p:nvSpPr>
          <p:cNvPr id="19" name="Shape 14"/>
          <p:cNvSpPr/>
          <p:nvPr/>
        </p:nvSpPr>
        <p:spPr>
          <a:xfrm>
            <a:off x="4709160" y="182880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0" name="Shape 15"/>
          <p:cNvSpPr/>
          <p:nvPr/>
        </p:nvSpPr>
        <p:spPr>
          <a:xfrm>
            <a:off x="4709160" y="1828800"/>
            <a:ext cx="54864" cy="914400"/>
          </a:xfrm>
          <a:prstGeom prst="rect">
            <a:avLst/>
          </a:prstGeom>
          <a:solidFill>
            <a:srgbClr val="7C3AED"/>
          </a:solidFill>
          <a:ln/>
        </p:spPr>
        <p:txBody>
          <a:bodyPr/>
          <a:p/>
        </p:txBody>
      </p:sp>
      <p:pic>
        <p:nvPicPr>
          <p:cNvPr id="21" name="Image 3" descr="preencoded.png"/>
          <p:cNvPicPr>
            <a:picLocks noChangeAspect="1"/>
          </p:cNvPicPr>
          <p:nvPr/>
        </p:nvPicPr>
        <p:blipFill>
          <a:blip r:embed="rId6"/>
          <a:stretch>
            <a:fillRect/>
          </a:stretch>
        </p:blipFill>
        <p:spPr>
          <a:xfrm>
            <a:off x="4892040" y="2130552"/>
            <a:ext cx="310896" cy="310896"/>
          </a:xfrm>
          <a:prstGeom prst="rect">
            <a:avLst/>
          </a:prstGeom>
        </p:spPr>
      </p:pic>
      <p:sp>
        <p:nvSpPr>
          <p:cNvPr id="22" name="Text 16"/>
          <p:cNvSpPr/>
          <p:nvPr/>
        </p:nvSpPr>
        <p:spPr>
          <a:xfrm>
            <a:off x="5303520" y="190195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Data lineage</a:t>
            </a:r>
            <a:endParaRPr lang="en-US" sz="1200" dirty="0"/>
          </a:p>
        </p:txBody>
      </p:sp>
      <p:sp>
        <p:nvSpPr>
          <p:cNvPr id="23" name="Text 17"/>
          <p:cNvSpPr/>
          <p:nvPr/>
        </p:nvSpPr>
        <p:spPr>
          <a:xfrm>
            <a:off x="5303520" y="217627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SHA-256 integrity hashes on every section. Source URLs traceable to SEC EDGAR. Every claim cites filing, section, and date.</a:t>
            </a:r>
            <a:endParaRPr lang="en-US" sz="950" dirty="0"/>
          </a:p>
        </p:txBody>
      </p:sp>
      <p:sp>
        <p:nvSpPr>
          <p:cNvPr id="24" name="Shape 18"/>
          <p:cNvSpPr/>
          <p:nvPr/>
        </p:nvSpPr>
        <p:spPr>
          <a:xfrm>
            <a:off x="502920" y="288036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25" name="Shape 19"/>
          <p:cNvSpPr/>
          <p:nvPr/>
        </p:nvSpPr>
        <p:spPr>
          <a:xfrm>
            <a:off x="502920" y="2880360"/>
            <a:ext cx="54864" cy="914400"/>
          </a:xfrm>
          <a:prstGeom prst="rect">
            <a:avLst/>
          </a:prstGeom>
          <a:solidFill>
            <a:srgbClr val="0F7B93"/>
          </a:solidFill>
          <a:ln/>
        </p:spPr>
        <p:txBody>
          <a:bodyPr/>
          <a:p/>
        </p:txBody>
      </p:sp>
      <p:pic>
        <p:nvPicPr>
          <p:cNvPr id="26" name="Image 4" descr="preencoded.png"/>
          <p:cNvPicPr>
            <a:picLocks noChangeAspect="1"/>
          </p:cNvPicPr>
          <p:nvPr/>
        </p:nvPicPr>
        <p:blipFill>
          <a:blip r:embed="rId7"/>
          <a:stretch>
            <a:fillRect/>
          </a:stretch>
        </p:blipFill>
        <p:spPr>
          <a:xfrm>
            <a:off x="685800" y="3182112"/>
            <a:ext cx="310896" cy="310896"/>
          </a:xfrm>
          <a:prstGeom prst="rect">
            <a:avLst/>
          </a:prstGeom>
        </p:spPr>
      </p:pic>
      <p:sp>
        <p:nvSpPr>
          <p:cNvPr id="27" name="Text 20"/>
          <p:cNvSpPr/>
          <p:nvPr/>
        </p:nvSpPr>
        <p:spPr>
          <a:xfrm>
            <a:off x="1097280" y="295351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LLM agnostic</a:t>
            </a:r>
            <a:endParaRPr lang="en-US" sz="1200" dirty="0"/>
          </a:p>
        </p:txBody>
      </p:sp>
      <p:sp>
        <p:nvSpPr>
          <p:cNvPr id="28" name="Text 21"/>
          <p:cNvSpPr/>
          <p:nvPr/>
        </p:nvSpPr>
        <p:spPr>
          <a:xfrm>
            <a:off x="1097280" y="322783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OpenAI GPT-4o, Anthropic Claude, Google Gemini  -  switch with one config change. Standardized response interface.</a:t>
            </a:r>
            <a:endParaRPr lang="en-US" sz="950" dirty="0"/>
          </a:p>
        </p:txBody>
      </p:sp>
      <p:sp>
        <p:nvSpPr>
          <p:cNvPr id="29" name="Shape 22"/>
          <p:cNvSpPr/>
          <p:nvPr/>
        </p:nvSpPr>
        <p:spPr>
          <a:xfrm>
            <a:off x="4709160" y="288036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30" name="Shape 23"/>
          <p:cNvSpPr/>
          <p:nvPr/>
        </p:nvSpPr>
        <p:spPr>
          <a:xfrm>
            <a:off x="4709160" y="2880360"/>
            <a:ext cx="54864" cy="914400"/>
          </a:xfrm>
          <a:prstGeom prst="rect">
            <a:avLst/>
          </a:prstGeom>
          <a:solidFill>
            <a:srgbClr val="0D4F6B"/>
          </a:solidFill>
          <a:ln/>
        </p:spPr>
        <p:txBody>
          <a:bodyPr/>
          <a:p/>
        </p:txBody>
      </p:sp>
      <p:pic>
        <p:nvPicPr>
          <p:cNvPr id="31" name="Image 5" descr="preencoded.png"/>
          <p:cNvPicPr>
            <a:picLocks noChangeAspect="1"/>
          </p:cNvPicPr>
          <p:nvPr/>
        </p:nvPicPr>
        <p:blipFill>
          <a:blip r:embed="rId8"/>
          <a:stretch>
            <a:fillRect/>
          </a:stretch>
        </p:blipFill>
        <p:spPr>
          <a:xfrm>
            <a:off x="4892040" y="3182112"/>
            <a:ext cx="310896" cy="310896"/>
          </a:xfrm>
          <a:prstGeom prst="rect">
            <a:avLst/>
          </a:prstGeom>
        </p:spPr>
      </p:pic>
      <p:sp>
        <p:nvSpPr>
          <p:cNvPr id="32" name="Text 24"/>
          <p:cNvSpPr/>
          <p:nvPr/>
        </p:nvSpPr>
        <p:spPr>
          <a:xfrm>
            <a:off x="5303520" y="295351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Zero hardcoding</a:t>
            </a:r>
            <a:endParaRPr lang="en-US" sz="1200" dirty="0"/>
          </a:p>
        </p:txBody>
      </p:sp>
      <p:sp>
        <p:nvSpPr>
          <p:cNvPr id="33" name="Text 25"/>
          <p:cNvSpPr/>
          <p:nvPr/>
        </p:nvSpPr>
        <p:spPr>
          <a:xfrm>
            <a:off x="5303520" y="322783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Sectors resolved dynamically from SEC EDGAR SIC codes. Section names parsed from each filing's own TOC. All params via env vars.</a:t>
            </a:r>
            <a:endParaRPr lang="en-US" sz="950" dirty="0"/>
          </a:p>
        </p:txBody>
      </p:sp>
      <p:sp>
        <p:nvSpPr>
          <p:cNvPr id="34" name="Shape 26"/>
          <p:cNvSpPr/>
          <p:nvPr/>
        </p:nvSpPr>
        <p:spPr>
          <a:xfrm>
            <a:off x="502920" y="393192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35" name="Shape 27"/>
          <p:cNvSpPr/>
          <p:nvPr/>
        </p:nvSpPr>
        <p:spPr>
          <a:xfrm>
            <a:off x="502920" y="3931920"/>
            <a:ext cx="54864" cy="914400"/>
          </a:xfrm>
          <a:prstGeom prst="rect">
            <a:avLst/>
          </a:prstGeom>
          <a:solidFill>
            <a:srgbClr val="059669"/>
          </a:solidFill>
          <a:ln/>
        </p:spPr>
        <p:txBody>
          <a:bodyPr/>
          <a:p/>
        </p:txBody>
      </p:sp>
      <p:pic>
        <p:nvPicPr>
          <p:cNvPr id="36" name="Image 6" descr="preencoded.png"/>
          <p:cNvPicPr>
            <a:picLocks noChangeAspect="1"/>
          </p:cNvPicPr>
          <p:nvPr/>
        </p:nvPicPr>
        <p:blipFill>
          <a:blip r:embed="rId9"/>
          <a:stretch>
            <a:fillRect/>
          </a:stretch>
        </p:blipFill>
        <p:spPr>
          <a:xfrm>
            <a:off x="685800" y="4233672"/>
            <a:ext cx="310896" cy="310896"/>
          </a:xfrm>
          <a:prstGeom prst="rect">
            <a:avLst/>
          </a:prstGeom>
        </p:spPr>
      </p:pic>
      <p:sp>
        <p:nvSpPr>
          <p:cNvPr id="37" name="Text 28"/>
          <p:cNvSpPr/>
          <p:nvPr/>
        </p:nvSpPr>
        <p:spPr>
          <a:xfrm>
            <a:off x="1097280" y="400507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97% verified accuracy</a:t>
            </a:r>
            <a:endParaRPr lang="en-US" sz="1200" dirty="0"/>
          </a:p>
        </p:txBody>
      </p:sp>
      <p:sp>
        <p:nvSpPr>
          <p:cNvPr id="38" name="Text 29"/>
          <p:cNvSpPr/>
          <p:nvPr/>
        </p:nvSpPr>
        <p:spPr>
          <a:xfrm>
            <a:off x="1097280" y="427939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34 claims tested against raw filings: 97% exact match, 0 hallucinations. Grounding rules prevent confabulation.</a:t>
            </a:r>
            <a:endParaRPr lang="en-US" sz="950" dirty="0"/>
          </a:p>
        </p:txBody>
      </p:sp>
      <p:sp>
        <p:nvSpPr>
          <p:cNvPr id="39" name="Shape 30"/>
          <p:cNvSpPr/>
          <p:nvPr/>
        </p:nvSpPr>
        <p:spPr>
          <a:xfrm>
            <a:off x="4709160" y="3931920"/>
            <a:ext cx="3886200" cy="914400"/>
          </a:xfrm>
          <a:prstGeom prst="rect">
            <a:avLst/>
          </a:prstGeom>
          <a:solidFill>
            <a:srgbClr val="F8FAFC"/>
          </a:solidFill>
          <a:ln w="6350">
            <a:solidFill>
              <a:srgbClr val="E2E8F0"/>
            </a:solidFill>
            <a:prstDash val="solid"/>
          </a:ln>
          <a:effectLst>
            <a:outerShdw blurRad="50800" dist="19050" dir="8100000" algn="bl" rotWithShape="0">
              <a:srgbClr val="000000">
                <a:alpha val="8000"/>
              </a:srgbClr>
            </a:outerShdw>
          </a:effectLst>
        </p:spPr>
        <p:txBody>
          <a:bodyPr/>
          <a:p/>
        </p:txBody>
      </p:sp>
      <p:sp>
        <p:nvSpPr>
          <p:cNvPr id="40" name="Shape 31"/>
          <p:cNvSpPr/>
          <p:nvPr/>
        </p:nvSpPr>
        <p:spPr>
          <a:xfrm>
            <a:off x="4709160" y="3931920"/>
            <a:ext cx="54864" cy="914400"/>
          </a:xfrm>
          <a:prstGeom prst="rect">
            <a:avLst/>
          </a:prstGeom>
          <a:solidFill>
            <a:srgbClr val="0F7B93"/>
          </a:solidFill>
          <a:ln/>
        </p:spPr>
        <p:txBody>
          <a:bodyPr/>
          <a:p/>
        </p:txBody>
      </p:sp>
      <p:pic>
        <p:nvPicPr>
          <p:cNvPr id="41" name="Image 7" descr="preencoded.png"/>
          <p:cNvPicPr>
            <a:picLocks noChangeAspect="1"/>
          </p:cNvPicPr>
          <p:nvPr/>
        </p:nvPicPr>
        <p:blipFill>
          <a:blip r:embed="rId10"/>
          <a:stretch>
            <a:fillRect/>
          </a:stretch>
        </p:blipFill>
        <p:spPr>
          <a:xfrm>
            <a:off x="4892040" y="4233672"/>
            <a:ext cx="310896" cy="310896"/>
          </a:xfrm>
          <a:prstGeom prst="rect">
            <a:avLst/>
          </a:prstGeom>
        </p:spPr>
      </p:pic>
      <p:sp>
        <p:nvSpPr>
          <p:cNvPr id="42" name="Text 32"/>
          <p:cNvSpPr/>
          <p:nvPr/>
        </p:nvSpPr>
        <p:spPr>
          <a:xfrm>
            <a:off x="5303520" y="4005072"/>
            <a:ext cx="3154680" cy="27432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Production path</a:t>
            </a:r>
            <a:endParaRPr lang="en-US" sz="1200" dirty="0"/>
          </a:p>
        </p:txBody>
      </p:sp>
      <p:sp>
        <p:nvSpPr>
          <p:cNvPr id="43" name="Text 33"/>
          <p:cNvSpPr/>
          <p:nvPr/>
        </p:nvSpPr>
        <p:spPr>
          <a:xfrm>
            <a:off x="5303520" y="4279392"/>
            <a:ext cx="3154680" cy="594360"/>
          </a:xfrm>
          <a:prstGeom prst="rect">
            <a:avLst/>
          </a:prstGeom>
          <a:noFill/>
          <a:ln/>
        </p:spPr>
        <p:txBody>
          <a:bodyPr wrap="square" lIns="0" tIns="0" rIns="0" bIns="0" rtlCol="0" anchor="t"/>
          <a:lstStyle/>
          <a:p>
            <a:pPr marL="0" indent="0">
              <a:lnSpc>
                <a:spcPct val="120000"/>
              </a:lnSpc>
              <a:buNone/>
            </a:pPr>
            <a:r>
              <a:rPr lang="en-US" sz="950" dirty="0">
                <a:solidFill>
                  <a:srgbClr val="64748B"/>
                </a:solidFill>
                <a:latin typeface="Calibri" pitchFamily="34" charset="0"/>
                <a:ea typeface="Calibri" pitchFamily="34" charset="-122"/>
                <a:cs typeface="Calibri" pitchFamily="34" charset="-120"/>
              </a:rPr>
              <a:t>SQLite schema migrates directly to Postgres. Audit log compatible with Datadog/Grafana Loki. Designed for scale from day one.</a:t>
            </a:r>
            <a:endParaRPr lang="en-US" sz="95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2D3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lgn="l"/>
            <a:r>
              <a:rPr sz="1800" b="1">
                <a:solidFill>
                  <a:srgbClr val="FFFFFF"/>
                </a:solidFill>
              </a:rPr>
              <a:t>VECTOR STORE SCHEMA</a:t>
            </a:r>
          </a:p>
        </p:txBody>
      </p:sp>
      <p:sp>
        <p:nvSpPr>
          <p:cNvPr id="4" name="TextBox 3"/>
          <p:cNvSpPr txBox="1"/>
          <p:nvPr/>
        </p:nvSpPr>
        <p:spPr>
          <a:xfrm>
            <a:off x="5486400" y="9144"/>
            <a:ext cx="3429000" cy="329184"/>
          </a:xfrm>
          <a:prstGeom prst="rect">
            <a:avLst/>
          </a:prstGeom>
          <a:noFill/>
        </p:spPr>
        <p:txBody>
          <a:bodyPr wrap="none">
            <a:spAutoFit/>
          </a:bodyPr>
          <a:lstStyle/>
          <a:p>
            <a:pPr algn="r"/>
            <a:r>
              <a:rPr sz="1100" i="1">
                <a:solidFill>
                  <a:srgbClr val="8A949A"/>
                </a:solidFill>
              </a:rPr>
              <a:t>18 metadata fields per chunk</a:t>
            </a:r>
          </a:p>
        </p:txBody>
      </p:sp>
      <p:sp>
        <p:nvSpPr>
          <p:cNvPr id="5" name="Rectangle 4"/>
          <p:cNvSpPr/>
          <p:nvPr/>
        </p:nvSpPr>
        <p:spPr>
          <a:xfrm>
            <a:off x="0" y="394000"/>
            <a:ext cx="9144000" cy="6050"/>
          </a:xfrm>
          <a:prstGeom prst="rect">
            <a:avLst/>
          </a:prstGeom>
          <a:solidFill>
            <a:srgbClr val="129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457200"/>
            <a:ext cx="2865120" cy="38404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457200"/>
            <a:ext cx="54864" cy="3840480"/>
          </a:xfrm>
          <a:prstGeom prst="rect">
            <a:avLst/>
          </a:prstGeom>
          <a:solidFill>
            <a:srgbClr val="129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75488"/>
            <a:ext cx="2727960" cy="292608"/>
          </a:xfrm>
          <a:prstGeom prst="rect">
            <a:avLst/>
          </a:prstGeom>
          <a:noFill/>
        </p:spPr>
        <p:txBody>
          <a:bodyPr wrap="none">
            <a:spAutoFit/>
          </a:bodyPr>
          <a:lstStyle/>
          <a:p>
            <a:pPr algn="l"/>
            <a:r>
              <a:rPr sz="1400" b="1">
                <a:solidFill>
                  <a:srgbClr val="2D3336"/>
                </a:solidFill>
              </a:rPr>
              <a:t>Filing Identity</a:t>
            </a:r>
          </a:p>
        </p:txBody>
      </p:sp>
      <p:sp>
        <p:nvSpPr>
          <p:cNvPr id="9" name="Rectangle 8"/>
          <p:cNvSpPr/>
          <p:nvPr/>
        </p:nvSpPr>
        <p:spPr>
          <a:xfrm>
            <a:off x="274320" y="786384"/>
            <a:ext cx="2682240" cy="13716"/>
          </a:xfrm>
          <a:prstGeom prst="rect">
            <a:avLst/>
          </a:prstGeom>
          <a:solidFill>
            <a:srgbClr val="129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 y="841248"/>
            <a:ext cx="2718816" cy="210312"/>
          </a:xfrm>
          <a:prstGeom prst="rect">
            <a:avLst/>
          </a:prstGeom>
          <a:noFill/>
        </p:spPr>
        <p:txBody>
          <a:bodyPr wrap="none">
            <a:spAutoFit/>
          </a:bodyPr>
          <a:lstStyle/>
          <a:p>
            <a:r>
              <a:rPr sz="1050" b="1">
                <a:solidFill>
                  <a:srgbClr val="12949F"/>
                </a:solidFill>
                <a:latin typeface="Consolas"/>
              </a:rPr>
              <a:t>ticker</a:t>
            </a:r>
          </a:p>
        </p:txBody>
      </p:sp>
      <p:sp>
        <p:nvSpPr>
          <p:cNvPr id="11" name="TextBox 10"/>
          <p:cNvSpPr txBox="1"/>
          <p:nvPr/>
        </p:nvSpPr>
        <p:spPr>
          <a:xfrm>
            <a:off x="283464" y="1051560"/>
            <a:ext cx="2718816" cy="256032"/>
          </a:xfrm>
          <a:prstGeom prst="rect">
            <a:avLst/>
          </a:prstGeom>
          <a:noFill/>
        </p:spPr>
        <p:txBody>
          <a:bodyPr wrap="square">
            <a:spAutoFit/>
          </a:bodyPr>
          <a:lstStyle/>
          <a:p>
            <a:r>
              <a:rPr sz="850">
                <a:solidFill>
                  <a:srgbClr val="555F65"/>
                </a:solidFill>
              </a:rPr>
              <a:t>Company ticker symbol</a:t>
            </a:r>
          </a:p>
        </p:txBody>
      </p:sp>
      <p:sp>
        <p:nvSpPr>
          <p:cNvPr id="12" name="Rectangle 11"/>
          <p:cNvSpPr/>
          <p:nvPr/>
        </p:nvSpPr>
        <p:spPr>
          <a:xfrm>
            <a:off x="237744" y="1312817"/>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 y="1331105"/>
            <a:ext cx="2718816" cy="210312"/>
          </a:xfrm>
          <a:prstGeom prst="rect">
            <a:avLst/>
          </a:prstGeom>
          <a:noFill/>
        </p:spPr>
        <p:txBody>
          <a:bodyPr wrap="none">
            <a:spAutoFit/>
          </a:bodyPr>
          <a:lstStyle/>
          <a:p>
            <a:r>
              <a:rPr sz="1050" b="1">
                <a:solidFill>
                  <a:srgbClr val="12949F"/>
                </a:solidFill>
                <a:latin typeface="Consolas"/>
              </a:rPr>
              <a:t>company_name</a:t>
            </a:r>
          </a:p>
        </p:txBody>
      </p:sp>
      <p:sp>
        <p:nvSpPr>
          <p:cNvPr id="14" name="TextBox 13"/>
          <p:cNvSpPr txBox="1"/>
          <p:nvPr/>
        </p:nvSpPr>
        <p:spPr>
          <a:xfrm>
            <a:off x="283464" y="1541417"/>
            <a:ext cx="2718816" cy="256032"/>
          </a:xfrm>
          <a:prstGeom prst="rect">
            <a:avLst/>
          </a:prstGeom>
          <a:noFill/>
        </p:spPr>
        <p:txBody>
          <a:bodyPr wrap="square">
            <a:spAutoFit/>
          </a:bodyPr>
          <a:lstStyle/>
          <a:p>
            <a:r>
              <a:rPr sz="850">
                <a:solidFill>
                  <a:srgbClr val="555F65"/>
                </a:solidFill>
              </a:rPr>
              <a:t>Full legal entity name</a:t>
            </a:r>
          </a:p>
        </p:txBody>
      </p:sp>
      <p:sp>
        <p:nvSpPr>
          <p:cNvPr id="15" name="TextBox 14"/>
          <p:cNvSpPr txBox="1"/>
          <p:nvPr/>
        </p:nvSpPr>
        <p:spPr>
          <a:xfrm>
            <a:off x="283464" y="1820962"/>
            <a:ext cx="2718816" cy="210312"/>
          </a:xfrm>
          <a:prstGeom prst="rect">
            <a:avLst/>
          </a:prstGeom>
          <a:noFill/>
        </p:spPr>
        <p:txBody>
          <a:bodyPr wrap="none">
            <a:spAutoFit/>
          </a:bodyPr>
          <a:lstStyle/>
          <a:p>
            <a:r>
              <a:rPr sz="1050" b="1">
                <a:solidFill>
                  <a:srgbClr val="12949F"/>
                </a:solidFill>
                <a:latin typeface="Consolas"/>
              </a:rPr>
              <a:t>cik</a:t>
            </a:r>
          </a:p>
        </p:txBody>
      </p:sp>
      <p:sp>
        <p:nvSpPr>
          <p:cNvPr id="16" name="TextBox 15"/>
          <p:cNvSpPr txBox="1"/>
          <p:nvPr/>
        </p:nvSpPr>
        <p:spPr>
          <a:xfrm>
            <a:off x="283464" y="2031274"/>
            <a:ext cx="2718816" cy="256032"/>
          </a:xfrm>
          <a:prstGeom prst="rect">
            <a:avLst/>
          </a:prstGeom>
          <a:noFill/>
        </p:spPr>
        <p:txBody>
          <a:bodyPr wrap="square">
            <a:spAutoFit/>
          </a:bodyPr>
          <a:lstStyle/>
          <a:p>
            <a:r>
              <a:rPr sz="850">
                <a:solidFill>
                  <a:srgbClr val="555F65"/>
                </a:solidFill>
              </a:rPr>
              <a:t>SEC Central Index Key</a:t>
            </a:r>
          </a:p>
        </p:txBody>
      </p:sp>
      <p:sp>
        <p:nvSpPr>
          <p:cNvPr id="17" name="Rectangle 16"/>
          <p:cNvSpPr/>
          <p:nvPr/>
        </p:nvSpPr>
        <p:spPr>
          <a:xfrm>
            <a:off x="237744" y="2292531"/>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 y="2310819"/>
            <a:ext cx="2718816" cy="210312"/>
          </a:xfrm>
          <a:prstGeom prst="rect">
            <a:avLst/>
          </a:prstGeom>
          <a:noFill/>
        </p:spPr>
        <p:txBody>
          <a:bodyPr wrap="none">
            <a:spAutoFit/>
          </a:bodyPr>
          <a:lstStyle/>
          <a:p>
            <a:r>
              <a:rPr sz="1050" b="1">
                <a:solidFill>
                  <a:srgbClr val="12949F"/>
                </a:solidFill>
                <a:latin typeface="Consolas"/>
              </a:rPr>
              <a:t>filing_type</a:t>
            </a:r>
          </a:p>
        </p:txBody>
      </p:sp>
      <p:sp>
        <p:nvSpPr>
          <p:cNvPr id="19" name="TextBox 18"/>
          <p:cNvSpPr txBox="1"/>
          <p:nvPr/>
        </p:nvSpPr>
        <p:spPr>
          <a:xfrm>
            <a:off x="283464" y="2521131"/>
            <a:ext cx="2718816" cy="256032"/>
          </a:xfrm>
          <a:prstGeom prst="rect">
            <a:avLst/>
          </a:prstGeom>
          <a:noFill/>
        </p:spPr>
        <p:txBody>
          <a:bodyPr wrap="square">
            <a:spAutoFit/>
          </a:bodyPr>
          <a:lstStyle/>
          <a:p>
            <a:r>
              <a:rPr sz="850">
                <a:solidFill>
                  <a:srgbClr val="555F65"/>
                </a:solidFill>
              </a:rPr>
              <a:t>10-K (annual) or 10-Q (quarterly)</a:t>
            </a:r>
          </a:p>
        </p:txBody>
      </p:sp>
      <p:sp>
        <p:nvSpPr>
          <p:cNvPr id="20" name="TextBox 19"/>
          <p:cNvSpPr txBox="1"/>
          <p:nvPr/>
        </p:nvSpPr>
        <p:spPr>
          <a:xfrm>
            <a:off x="283464" y="2800676"/>
            <a:ext cx="2718816" cy="210312"/>
          </a:xfrm>
          <a:prstGeom prst="rect">
            <a:avLst/>
          </a:prstGeom>
          <a:noFill/>
        </p:spPr>
        <p:txBody>
          <a:bodyPr wrap="none">
            <a:spAutoFit/>
          </a:bodyPr>
          <a:lstStyle/>
          <a:p>
            <a:r>
              <a:rPr sz="1050" b="1">
                <a:solidFill>
                  <a:srgbClr val="12949F"/>
                </a:solidFill>
                <a:latin typeface="Consolas"/>
              </a:rPr>
              <a:t>filing_date</a:t>
            </a:r>
          </a:p>
        </p:txBody>
      </p:sp>
      <p:sp>
        <p:nvSpPr>
          <p:cNvPr id="21" name="TextBox 20"/>
          <p:cNvSpPr txBox="1"/>
          <p:nvPr/>
        </p:nvSpPr>
        <p:spPr>
          <a:xfrm>
            <a:off x="283464" y="3010988"/>
            <a:ext cx="2718816" cy="256032"/>
          </a:xfrm>
          <a:prstGeom prst="rect">
            <a:avLst/>
          </a:prstGeom>
          <a:noFill/>
        </p:spPr>
        <p:txBody>
          <a:bodyPr wrap="square">
            <a:spAutoFit/>
          </a:bodyPr>
          <a:lstStyle/>
          <a:p>
            <a:r>
              <a:rPr sz="850">
                <a:solidFill>
                  <a:srgbClr val="555F65"/>
                </a:solidFill>
              </a:rPr>
              <a:t>Date filed with SEC</a:t>
            </a:r>
          </a:p>
        </p:txBody>
      </p:sp>
      <p:sp>
        <p:nvSpPr>
          <p:cNvPr id="22" name="Rectangle 21"/>
          <p:cNvSpPr/>
          <p:nvPr/>
        </p:nvSpPr>
        <p:spPr>
          <a:xfrm>
            <a:off x="237744" y="3272245"/>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 y="3290533"/>
            <a:ext cx="2718816" cy="210312"/>
          </a:xfrm>
          <a:prstGeom prst="rect">
            <a:avLst/>
          </a:prstGeom>
          <a:noFill/>
        </p:spPr>
        <p:txBody>
          <a:bodyPr wrap="none">
            <a:spAutoFit/>
          </a:bodyPr>
          <a:lstStyle/>
          <a:p>
            <a:r>
              <a:rPr sz="1050" b="1">
                <a:solidFill>
                  <a:srgbClr val="12949F"/>
                </a:solidFill>
                <a:latin typeface="Consolas"/>
              </a:rPr>
              <a:t>report_period</a:t>
            </a:r>
          </a:p>
        </p:txBody>
      </p:sp>
      <p:sp>
        <p:nvSpPr>
          <p:cNvPr id="24" name="TextBox 23"/>
          <p:cNvSpPr txBox="1"/>
          <p:nvPr/>
        </p:nvSpPr>
        <p:spPr>
          <a:xfrm>
            <a:off x="283464" y="3500845"/>
            <a:ext cx="2718816" cy="256032"/>
          </a:xfrm>
          <a:prstGeom prst="rect">
            <a:avLst/>
          </a:prstGeom>
          <a:noFill/>
        </p:spPr>
        <p:txBody>
          <a:bodyPr wrap="square">
            <a:spAutoFit/>
          </a:bodyPr>
          <a:lstStyle/>
          <a:p>
            <a:r>
              <a:rPr sz="850">
                <a:solidFill>
                  <a:srgbClr val="555F65"/>
                </a:solidFill>
              </a:rPr>
              <a:t>Fiscal period covered</a:t>
            </a:r>
          </a:p>
        </p:txBody>
      </p:sp>
      <p:sp>
        <p:nvSpPr>
          <p:cNvPr id="25" name="TextBox 24"/>
          <p:cNvSpPr txBox="1"/>
          <p:nvPr/>
        </p:nvSpPr>
        <p:spPr>
          <a:xfrm>
            <a:off x="283464" y="3780390"/>
            <a:ext cx="2718816" cy="210312"/>
          </a:xfrm>
          <a:prstGeom prst="rect">
            <a:avLst/>
          </a:prstGeom>
          <a:noFill/>
        </p:spPr>
        <p:txBody>
          <a:bodyPr wrap="none">
            <a:spAutoFit/>
          </a:bodyPr>
          <a:lstStyle/>
          <a:p>
            <a:r>
              <a:rPr sz="1050" b="1">
                <a:solidFill>
                  <a:srgbClr val="12949F"/>
                </a:solidFill>
                <a:latin typeface="Consolas"/>
              </a:rPr>
              <a:t>sector</a:t>
            </a:r>
          </a:p>
        </p:txBody>
      </p:sp>
      <p:sp>
        <p:nvSpPr>
          <p:cNvPr id="26" name="TextBox 25"/>
          <p:cNvSpPr txBox="1"/>
          <p:nvPr/>
        </p:nvSpPr>
        <p:spPr>
          <a:xfrm>
            <a:off x="283464" y="3990702"/>
            <a:ext cx="2718816" cy="256032"/>
          </a:xfrm>
          <a:prstGeom prst="rect">
            <a:avLst/>
          </a:prstGeom>
          <a:noFill/>
        </p:spPr>
        <p:txBody>
          <a:bodyPr wrap="square">
            <a:spAutoFit/>
          </a:bodyPr>
          <a:lstStyle/>
          <a:p>
            <a:r>
              <a:rPr sz="850">
                <a:solidFill>
                  <a:srgbClr val="555F65"/>
                </a:solidFill>
              </a:rPr>
              <a:t>Industry sector from SIC codes</a:t>
            </a:r>
          </a:p>
        </p:txBody>
      </p:sp>
      <p:sp>
        <p:nvSpPr>
          <p:cNvPr id="27" name="Rectangle 26"/>
          <p:cNvSpPr/>
          <p:nvPr/>
        </p:nvSpPr>
        <p:spPr>
          <a:xfrm>
            <a:off x="3139440" y="457200"/>
            <a:ext cx="2865120" cy="38404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39440" y="457200"/>
            <a:ext cx="54864" cy="3840480"/>
          </a:xfrm>
          <a:prstGeom prst="rect">
            <a:avLst/>
          </a:prstGeom>
          <a:solidFill>
            <a:srgbClr val="0D89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30880" y="475488"/>
            <a:ext cx="2727960" cy="292608"/>
          </a:xfrm>
          <a:prstGeom prst="rect">
            <a:avLst/>
          </a:prstGeom>
          <a:noFill/>
        </p:spPr>
        <p:txBody>
          <a:bodyPr wrap="none">
            <a:spAutoFit/>
          </a:bodyPr>
          <a:lstStyle/>
          <a:p>
            <a:pPr algn="l"/>
            <a:r>
              <a:rPr sz="1400" b="1">
                <a:solidFill>
                  <a:srgbClr val="2D3336"/>
                </a:solidFill>
              </a:rPr>
              <a:t>Section &amp; Chunk</a:t>
            </a:r>
          </a:p>
        </p:txBody>
      </p:sp>
      <p:sp>
        <p:nvSpPr>
          <p:cNvPr id="30" name="Rectangle 29"/>
          <p:cNvSpPr/>
          <p:nvPr/>
        </p:nvSpPr>
        <p:spPr>
          <a:xfrm>
            <a:off x="3230880" y="786384"/>
            <a:ext cx="2682240" cy="13716"/>
          </a:xfrm>
          <a:prstGeom prst="rect">
            <a:avLst/>
          </a:prstGeom>
          <a:solidFill>
            <a:srgbClr val="0D89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24" y="841248"/>
            <a:ext cx="2718816" cy="210312"/>
          </a:xfrm>
          <a:prstGeom prst="rect">
            <a:avLst/>
          </a:prstGeom>
          <a:noFill/>
        </p:spPr>
        <p:txBody>
          <a:bodyPr wrap="none">
            <a:spAutoFit/>
          </a:bodyPr>
          <a:lstStyle/>
          <a:p>
            <a:r>
              <a:rPr sz="1050" b="1">
                <a:solidFill>
                  <a:srgbClr val="0D8972"/>
                </a:solidFill>
                <a:latin typeface="Consolas"/>
              </a:rPr>
              <a:t>section_name</a:t>
            </a:r>
          </a:p>
        </p:txBody>
      </p:sp>
      <p:sp>
        <p:nvSpPr>
          <p:cNvPr id="32" name="TextBox 31"/>
          <p:cNvSpPr txBox="1"/>
          <p:nvPr/>
        </p:nvSpPr>
        <p:spPr>
          <a:xfrm>
            <a:off x="3240024" y="1051560"/>
            <a:ext cx="2718816" cy="256032"/>
          </a:xfrm>
          <a:prstGeom prst="rect">
            <a:avLst/>
          </a:prstGeom>
          <a:noFill/>
        </p:spPr>
        <p:txBody>
          <a:bodyPr wrap="square">
            <a:spAutoFit/>
          </a:bodyPr>
          <a:lstStyle/>
          <a:p>
            <a:r>
              <a:rPr sz="850">
                <a:solidFill>
                  <a:srgbClr val="555F65"/>
                </a:solidFill>
              </a:rPr>
              <a:t>Parsed heading from TOC</a:t>
            </a:r>
          </a:p>
        </p:txBody>
      </p:sp>
      <p:sp>
        <p:nvSpPr>
          <p:cNvPr id="33" name="Rectangle 32"/>
          <p:cNvSpPr/>
          <p:nvPr/>
        </p:nvSpPr>
        <p:spPr>
          <a:xfrm>
            <a:off x="3194304" y="1312817"/>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0024" y="1331105"/>
            <a:ext cx="2718816" cy="210312"/>
          </a:xfrm>
          <a:prstGeom prst="rect">
            <a:avLst/>
          </a:prstGeom>
          <a:noFill/>
        </p:spPr>
        <p:txBody>
          <a:bodyPr wrap="none">
            <a:spAutoFit/>
          </a:bodyPr>
          <a:lstStyle/>
          <a:p>
            <a:r>
              <a:rPr sz="1050" b="1">
                <a:solidFill>
                  <a:srgbClr val="0D8972"/>
                </a:solidFill>
                <a:latin typeface="Consolas"/>
              </a:rPr>
              <a:t>item_number</a:t>
            </a:r>
          </a:p>
        </p:txBody>
      </p:sp>
      <p:sp>
        <p:nvSpPr>
          <p:cNvPr id="35" name="TextBox 34"/>
          <p:cNvSpPr txBox="1"/>
          <p:nvPr/>
        </p:nvSpPr>
        <p:spPr>
          <a:xfrm>
            <a:off x="3240024" y="1541417"/>
            <a:ext cx="2718816" cy="256032"/>
          </a:xfrm>
          <a:prstGeom prst="rect">
            <a:avLst/>
          </a:prstGeom>
          <a:noFill/>
        </p:spPr>
        <p:txBody>
          <a:bodyPr wrap="square">
            <a:spAutoFit/>
          </a:bodyPr>
          <a:lstStyle/>
          <a:p>
            <a:r>
              <a:rPr sz="850">
                <a:solidFill>
                  <a:srgbClr val="555F65"/>
                </a:solidFill>
              </a:rPr>
              <a:t>SEC item (e.g. 1A, 7, 8)</a:t>
            </a:r>
          </a:p>
        </p:txBody>
      </p:sp>
      <p:sp>
        <p:nvSpPr>
          <p:cNvPr id="36" name="TextBox 35"/>
          <p:cNvSpPr txBox="1"/>
          <p:nvPr/>
        </p:nvSpPr>
        <p:spPr>
          <a:xfrm>
            <a:off x="3240024" y="1820962"/>
            <a:ext cx="2718816" cy="210312"/>
          </a:xfrm>
          <a:prstGeom prst="rect">
            <a:avLst/>
          </a:prstGeom>
          <a:noFill/>
        </p:spPr>
        <p:txBody>
          <a:bodyPr wrap="none">
            <a:spAutoFit/>
          </a:bodyPr>
          <a:lstStyle/>
          <a:p>
            <a:r>
              <a:rPr sz="1050" b="1">
                <a:solidFill>
                  <a:srgbClr val="0D8972"/>
                </a:solidFill>
                <a:latin typeface="Consolas"/>
              </a:rPr>
              <a:t>part</a:t>
            </a:r>
          </a:p>
        </p:txBody>
      </p:sp>
      <p:sp>
        <p:nvSpPr>
          <p:cNvPr id="37" name="TextBox 36"/>
          <p:cNvSpPr txBox="1"/>
          <p:nvPr/>
        </p:nvSpPr>
        <p:spPr>
          <a:xfrm>
            <a:off x="3240024" y="2031274"/>
            <a:ext cx="2718816" cy="256032"/>
          </a:xfrm>
          <a:prstGeom prst="rect">
            <a:avLst/>
          </a:prstGeom>
          <a:noFill/>
        </p:spPr>
        <p:txBody>
          <a:bodyPr wrap="square">
            <a:spAutoFit/>
          </a:bodyPr>
          <a:lstStyle/>
          <a:p>
            <a:r>
              <a:rPr sz="850">
                <a:solidFill>
                  <a:srgbClr val="555F65"/>
                </a:solidFill>
              </a:rPr>
              <a:t>Filing part (I or II)</a:t>
            </a:r>
          </a:p>
        </p:txBody>
      </p:sp>
      <p:sp>
        <p:nvSpPr>
          <p:cNvPr id="38" name="Rectangle 37"/>
          <p:cNvSpPr/>
          <p:nvPr/>
        </p:nvSpPr>
        <p:spPr>
          <a:xfrm>
            <a:off x="3194304" y="2292531"/>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24" y="2310819"/>
            <a:ext cx="2718816" cy="210312"/>
          </a:xfrm>
          <a:prstGeom prst="rect">
            <a:avLst/>
          </a:prstGeom>
          <a:noFill/>
        </p:spPr>
        <p:txBody>
          <a:bodyPr wrap="none">
            <a:spAutoFit/>
          </a:bodyPr>
          <a:lstStyle/>
          <a:p>
            <a:r>
              <a:rPr sz="1050" b="1">
                <a:solidFill>
                  <a:srgbClr val="0D8972"/>
                </a:solidFill>
                <a:latin typeface="Consolas"/>
              </a:rPr>
              <a:t>chunk_index</a:t>
            </a:r>
          </a:p>
        </p:txBody>
      </p:sp>
      <p:sp>
        <p:nvSpPr>
          <p:cNvPr id="40" name="TextBox 39"/>
          <p:cNvSpPr txBox="1"/>
          <p:nvPr/>
        </p:nvSpPr>
        <p:spPr>
          <a:xfrm>
            <a:off x="3240024" y="2521131"/>
            <a:ext cx="2718816" cy="256032"/>
          </a:xfrm>
          <a:prstGeom prst="rect">
            <a:avLst/>
          </a:prstGeom>
          <a:noFill/>
        </p:spPr>
        <p:txBody>
          <a:bodyPr wrap="square">
            <a:spAutoFit/>
          </a:bodyPr>
          <a:lstStyle/>
          <a:p>
            <a:r>
              <a:rPr sz="850">
                <a:solidFill>
                  <a:srgbClr val="555F65"/>
                </a:solidFill>
              </a:rPr>
              <a:t>Position within section</a:t>
            </a:r>
          </a:p>
        </p:txBody>
      </p:sp>
      <p:sp>
        <p:nvSpPr>
          <p:cNvPr id="41" name="TextBox 40"/>
          <p:cNvSpPr txBox="1"/>
          <p:nvPr/>
        </p:nvSpPr>
        <p:spPr>
          <a:xfrm>
            <a:off x="3240024" y="2800676"/>
            <a:ext cx="2718816" cy="210312"/>
          </a:xfrm>
          <a:prstGeom prst="rect">
            <a:avLst/>
          </a:prstGeom>
          <a:noFill/>
        </p:spPr>
        <p:txBody>
          <a:bodyPr wrap="none">
            <a:spAutoFit/>
          </a:bodyPr>
          <a:lstStyle/>
          <a:p>
            <a:r>
              <a:rPr sz="1050" b="1">
                <a:solidFill>
                  <a:srgbClr val="0D8972"/>
                </a:solidFill>
                <a:latin typeface="Consolas"/>
              </a:rPr>
              <a:t>total_chunks</a:t>
            </a:r>
          </a:p>
        </p:txBody>
      </p:sp>
      <p:sp>
        <p:nvSpPr>
          <p:cNvPr id="42" name="TextBox 41"/>
          <p:cNvSpPr txBox="1"/>
          <p:nvPr/>
        </p:nvSpPr>
        <p:spPr>
          <a:xfrm>
            <a:off x="3240024" y="3010988"/>
            <a:ext cx="2718816" cy="256032"/>
          </a:xfrm>
          <a:prstGeom prst="rect">
            <a:avLst/>
          </a:prstGeom>
          <a:noFill/>
        </p:spPr>
        <p:txBody>
          <a:bodyPr wrap="square">
            <a:spAutoFit/>
          </a:bodyPr>
          <a:lstStyle/>
          <a:p>
            <a:r>
              <a:rPr sz="850">
                <a:solidFill>
                  <a:srgbClr val="555F65"/>
                </a:solidFill>
              </a:rPr>
              <a:t>Total chunks in section</a:t>
            </a:r>
          </a:p>
        </p:txBody>
      </p:sp>
      <p:sp>
        <p:nvSpPr>
          <p:cNvPr id="43" name="Rectangle 42"/>
          <p:cNvSpPr/>
          <p:nvPr/>
        </p:nvSpPr>
        <p:spPr>
          <a:xfrm>
            <a:off x="3194304" y="3272245"/>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40024" y="3290533"/>
            <a:ext cx="2718816" cy="210312"/>
          </a:xfrm>
          <a:prstGeom prst="rect">
            <a:avLst/>
          </a:prstGeom>
          <a:noFill/>
        </p:spPr>
        <p:txBody>
          <a:bodyPr wrap="none">
            <a:spAutoFit/>
          </a:bodyPr>
          <a:lstStyle/>
          <a:p>
            <a:r>
              <a:rPr sz="1050" b="1">
                <a:solidFill>
                  <a:srgbClr val="0D8972"/>
                </a:solidFill>
                <a:latin typeface="Consolas"/>
              </a:rPr>
              <a:t>section_index</a:t>
            </a:r>
          </a:p>
        </p:txBody>
      </p:sp>
      <p:sp>
        <p:nvSpPr>
          <p:cNvPr id="45" name="TextBox 44"/>
          <p:cNvSpPr txBox="1"/>
          <p:nvPr/>
        </p:nvSpPr>
        <p:spPr>
          <a:xfrm>
            <a:off x="3240024" y="3500845"/>
            <a:ext cx="2718816" cy="256032"/>
          </a:xfrm>
          <a:prstGeom prst="rect">
            <a:avLst/>
          </a:prstGeom>
          <a:noFill/>
        </p:spPr>
        <p:txBody>
          <a:bodyPr wrap="square">
            <a:spAutoFit/>
          </a:bodyPr>
          <a:lstStyle/>
          <a:p>
            <a:r>
              <a:rPr sz="850">
                <a:solidFill>
                  <a:srgbClr val="555F65"/>
                </a:solidFill>
              </a:rPr>
              <a:t>Section position in filing</a:t>
            </a:r>
          </a:p>
        </p:txBody>
      </p:sp>
      <p:sp>
        <p:nvSpPr>
          <p:cNvPr id="46" name="Rectangle 45"/>
          <p:cNvSpPr/>
          <p:nvPr/>
        </p:nvSpPr>
        <p:spPr>
          <a:xfrm>
            <a:off x="6096000" y="457200"/>
            <a:ext cx="2865120" cy="38404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96000" y="457200"/>
            <a:ext cx="54864" cy="3840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87440" y="475488"/>
            <a:ext cx="2727960" cy="292608"/>
          </a:xfrm>
          <a:prstGeom prst="rect">
            <a:avLst/>
          </a:prstGeom>
          <a:noFill/>
        </p:spPr>
        <p:txBody>
          <a:bodyPr wrap="none">
            <a:spAutoFit/>
          </a:bodyPr>
          <a:lstStyle/>
          <a:p>
            <a:pPr algn="l"/>
            <a:r>
              <a:rPr sz="1400" b="1">
                <a:solidFill>
                  <a:srgbClr val="2D3336"/>
                </a:solidFill>
              </a:rPr>
              <a:t>Traceability &amp; Access</a:t>
            </a:r>
          </a:p>
        </p:txBody>
      </p:sp>
      <p:sp>
        <p:nvSpPr>
          <p:cNvPr id="49" name="Rectangle 48"/>
          <p:cNvSpPr/>
          <p:nvPr/>
        </p:nvSpPr>
        <p:spPr>
          <a:xfrm>
            <a:off x="6187440" y="786384"/>
            <a:ext cx="2682240" cy="13716"/>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6584" y="841248"/>
            <a:ext cx="2718816" cy="210312"/>
          </a:xfrm>
          <a:prstGeom prst="rect">
            <a:avLst/>
          </a:prstGeom>
          <a:noFill/>
        </p:spPr>
        <p:txBody>
          <a:bodyPr wrap="none">
            <a:spAutoFit/>
          </a:bodyPr>
          <a:lstStyle/>
          <a:p>
            <a:r>
              <a:rPr sz="1050" b="1">
                <a:solidFill>
                  <a:srgbClr val="E67E22"/>
                </a:solidFill>
                <a:latin typeface="Consolas"/>
              </a:rPr>
              <a:t>source_url</a:t>
            </a:r>
          </a:p>
        </p:txBody>
      </p:sp>
      <p:sp>
        <p:nvSpPr>
          <p:cNvPr id="51" name="TextBox 50"/>
          <p:cNvSpPr txBox="1"/>
          <p:nvPr/>
        </p:nvSpPr>
        <p:spPr>
          <a:xfrm>
            <a:off x="6196584" y="1051560"/>
            <a:ext cx="2718816" cy="256032"/>
          </a:xfrm>
          <a:prstGeom prst="rect">
            <a:avLst/>
          </a:prstGeom>
          <a:noFill/>
        </p:spPr>
        <p:txBody>
          <a:bodyPr wrap="square">
            <a:spAutoFit/>
          </a:bodyPr>
          <a:lstStyle/>
          <a:p>
            <a:r>
              <a:rPr sz="850">
                <a:solidFill>
                  <a:srgbClr val="555F65"/>
                </a:solidFill>
              </a:rPr>
              <a:t>SEC EDGAR filing URL</a:t>
            </a:r>
          </a:p>
        </p:txBody>
      </p:sp>
      <p:sp>
        <p:nvSpPr>
          <p:cNvPr id="52" name="Rectangle 51"/>
          <p:cNvSpPr/>
          <p:nvPr/>
        </p:nvSpPr>
        <p:spPr>
          <a:xfrm>
            <a:off x="6150864" y="1312817"/>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6584" y="1331105"/>
            <a:ext cx="2718816" cy="210312"/>
          </a:xfrm>
          <a:prstGeom prst="rect">
            <a:avLst/>
          </a:prstGeom>
          <a:noFill/>
        </p:spPr>
        <p:txBody>
          <a:bodyPr wrap="none">
            <a:spAutoFit/>
          </a:bodyPr>
          <a:lstStyle/>
          <a:p>
            <a:r>
              <a:rPr sz="1050" b="1">
                <a:solidFill>
                  <a:srgbClr val="E67E22"/>
                </a:solidFill>
                <a:latin typeface="Consolas"/>
              </a:rPr>
              <a:t>source_file</a:t>
            </a:r>
          </a:p>
        </p:txBody>
      </p:sp>
      <p:sp>
        <p:nvSpPr>
          <p:cNvPr id="54" name="TextBox 53"/>
          <p:cNvSpPr txBox="1"/>
          <p:nvPr/>
        </p:nvSpPr>
        <p:spPr>
          <a:xfrm>
            <a:off x="6196584" y="1541417"/>
            <a:ext cx="2718816" cy="256032"/>
          </a:xfrm>
          <a:prstGeom prst="rect">
            <a:avLst/>
          </a:prstGeom>
          <a:noFill/>
        </p:spPr>
        <p:txBody>
          <a:bodyPr wrap="square">
            <a:spAutoFit/>
          </a:bodyPr>
          <a:lstStyle/>
          <a:p>
            <a:r>
              <a:rPr sz="850">
                <a:solidFill>
                  <a:srgbClr val="555F65"/>
                </a:solidFill>
              </a:rPr>
              <a:t>Local corpus file path</a:t>
            </a:r>
          </a:p>
        </p:txBody>
      </p:sp>
      <p:sp>
        <p:nvSpPr>
          <p:cNvPr id="55" name="TextBox 54"/>
          <p:cNvSpPr txBox="1"/>
          <p:nvPr/>
        </p:nvSpPr>
        <p:spPr>
          <a:xfrm>
            <a:off x="6196584" y="1820962"/>
            <a:ext cx="2718816" cy="210312"/>
          </a:xfrm>
          <a:prstGeom prst="rect">
            <a:avLst/>
          </a:prstGeom>
          <a:noFill/>
        </p:spPr>
        <p:txBody>
          <a:bodyPr wrap="none">
            <a:spAutoFit/>
          </a:bodyPr>
          <a:lstStyle/>
          <a:p>
            <a:r>
              <a:rPr sz="1050" b="1">
                <a:solidFill>
                  <a:srgbClr val="E67E22"/>
                </a:solidFill>
                <a:latin typeface="Consolas"/>
              </a:rPr>
              <a:t>source_hash</a:t>
            </a:r>
          </a:p>
        </p:txBody>
      </p:sp>
      <p:sp>
        <p:nvSpPr>
          <p:cNvPr id="56" name="TextBox 55"/>
          <p:cNvSpPr txBox="1"/>
          <p:nvPr/>
        </p:nvSpPr>
        <p:spPr>
          <a:xfrm>
            <a:off x="6196584" y="2031274"/>
            <a:ext cx="2718816" cy="256032"/>
          </a:xfrm>
          <a:prstGeom prst="rect">
            <a:avLst/>
          </a:prstGeom>
          <a:noFill/>
        </p:spPr>
        <p:txBody>
          <a:bodyPr wrap="square">
            <a:spAutoFit/>
          </a:bodyPr>
          <a:lstStyle/>
          <a:p>
            <a:r>
              <a:rPr sz="850">
                <a:solidFill>
                  <a:srgbClr val="555F65"/>
                </a:solidFill>
              </a:rPr>
              <a:t>SHA-256 integrity hash</a:t>
            </a:r>
          </a:p>
        </p:txBody>
      </p:sp>
      <p:sp>
        <p:nvSpPr>
          <p:cNvPr id="57" name="Rectangle 56"/>
          <p:cNvSpPr/>
          <p:nvPr/>
        </p:nvSpPr>
        <p:spPr>
          <a:xfrm>
            <a:off x="6150864" y="2292531"/>
            <a:ext cx="2810256" cy="489857"/>
          </a:xfrm>
          <a:prstGeom prst="rect">
            <a:avLst/>
          </a:prstGeom>
          <a:solidFill>
            <a:srgbClr val="ED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6584" y="2310819"/>
            <a:ext cx="2718816" cy="210312"/>
          </a:xfrm>
          <a:prstGeom prst="rect">
            <a:avLst/>
          </a:prstGeom>
          <a:noFill/>
        </p:spPr>
        <p:txBody>
          <a:bodyPr wrap="none">
            <a:spAutoFit/>
          </a:bodyPr>
          <a:lstStyle/>
          <a:p>
            <a:r>
              <a:rPr sz="1050" b="1">
                <a:solidFill>
                  <a:srgbClr val="E67E22"/>
                </a:solidFill>
                <a:latin typeface="Consolas"/>
              </a:rPr>
              <a:t>tenant_id</a:t>
            </a:r>
          </a:p>
        </p:txBody>
      </p:sp>
      <p:sp>
        <p:nvSpPr>
          <p:cNvPr id="59" name="TextBox 58"/>
          <p:cNvSpPr txBox="1"/>
          <p:nvPr/>
        </p:nvSpPr>
        <p:spPr>
          <a:xfrm>
            <a:off x="6196584" y="2521131"/>
            <a:ext cx="2718816" cy="256032"/>
          </a:xfrm>
          <a:prstGeom prst="rect">
            <a:avLst/>
          </a:prstGeom>
          <a:noFill/>
        </p:spPr>
        <p:txBody>
          <a:bodyPr wrap="square">
            <a:spAutoFit/>
          </a:bodyPr>
          <a:lstStyle/>
          <a:p>
            <a:r>
              <a:rPr sz="850">
                <a:solidFill>
                  <a:srgbClr val="555F65"/>
                </a:solidFill>
              </a:rPr>
              <a:t>Multi-tenant isolation key</a:t>
            </a:r>
          </a:p>
        </p:txBody>
      </p:sp>
      <p:sp>
        <p:nvSpPr>
          <p:cNvPr id="60" name="TextBox 59"/>
          <p:cNvSpPr txBox="1"/>
          <p:nvPr/>
        </p:nvSpPr>
        <p:spPr>
          <a:xfrm>
            <a:off x="6196584" y="2800676"/>
            <a:ext cx="2718816" cy="210312"/>
          </a:xfrm>
          <a:prstGeom prst="rect">
            <a:avLst/>
          </a:prstGeom>
          <a:noFill/>
        </p:spPr>
        <p:txBody>
          <a:bodyPr wrap="none">
            <a:spAutoFit/>
          </a:bodyPr>
          <a:lstStyle/>
          <a:p>
            <a:r>
              <a:rPr sz="1050" b="1">
                <a:solidFill>
                  <a:srgbClr val="E67E22"/>
                </a:solidFill>
                <a:latin typeface="Consolas"/>
              </a:rPr>
              <a:t>access_level</a:t>
            </a:r>
          </a:p>
        </p:txBody>
      </p:sp>
      <p:sp>
        <p:nvSpPr>
          <p:cNvPr id="61" name="TextBox 60"/>
          <p:cNvSpPr txBox="1"/>
          <p:nvPr/>
        </p:nvSpPr>
        <p:spPr>
          <a:xfrm>
            <a:off x="6196584" y="3010988"/>
            <a:ext cx="2718816" cy="256032"/>
          </a:xfrm>
          <a:prstGeom prst="rect">
            <a:avLst/>
          </a:prstGeom>
          <a:noFill/>
        </p:spPr>
        <p:txBody>
          <a:bodyPr wrap="square">
            <a:spAutoFit/>
          </a:bodyPr>
          <a:lstStyle/>
          <a:p>
            <a:r>
              <a:rPr sz="850">
                <a:solidFill>
                  <a:srgbClr val="555F65"/>
                </a:solidFill>
              </a:rPr>
              <a:t>RBAC tier: admin / analyst / restricted</a:t>
            </a:r>
          </a:p>
        </p:txBody>
      </p:sp>
      <p:sp>
        <p:nvSpPr>
          <p:cNvPr id="62" name="TextBox 61"/>
          <p:cNvSpPr txBox="1"/>
          <p:nvPr/>
        </p:nvSpPr>
        <p:spPr>
          <a:xfrm>
            <a:off x="182880" y="4389120"/>
            <a:ext cx="8778240" cy="274320"/>
          </a:xfrm>
          <a:prstGeom prst="rect">
            <a:avLst/>
          </a:prstGeom>
          <a:noFill/>
        </p:spPr>
        <p:txBody>
          <a:bodyPr wrap="square">
            <a:spAutoFit/>
          </a:bodyPr>
          <a:lstStyle/>
          <a:p>
            <a:pPr algn="ctr"/>
            <a:r>
              <a:rPr sz="1000" i="1">
                <a:solidFill>
                  <a:srgbClr val="555F65"/>
                </a:solidFill>
              </a:rPr>
              <a:t>Every chunk carries full context for filtering, citation, audit, and access control — no joins, no lookups at query time</a:t>
            </a:r>
          </a:p>
        </p:txBody>
      </p:sp>
      <p:sp>
        <p:nvSpPr>
          <p:cNvPr id="63" name="Rectangle 62"/>
          <p:cNvSpPr/>
          <p:nvPr/>
        </p:nvSpPr>
        <p:spPr>
          <a:xfrm>
            <a:off x="182880" y="4389120"/>
            <a:ext cx="8778240" cy="663576"/>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82880" y="4389120"/>
            <a:ext cx="54864" cy="663576"/>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040" y="4407408"/>
            <a:ext cx="8503920" cy="594360"/>
          </a:xfrm>
          <a:prstGeom prst="rect">
            <a:avLst/>
          </a:prstGeom>
          <a:noFill/>
        </p:spPr>
        <p:txBody>
          <a:bodyPr wrap="square">
            <a:spAutoFit/>
          </a:bodyPr>
          <a:lstStyle/>
          <a:p>
            <a:pPr>
              <a:spcAft>
                <a:spcPts val="100"/>
              </a:spcAft>
              <a:defRPr sz="1000" b="1">
                <a:solidFill>
                  <a:srgbClr val="1A1A1A"/>
                </a:solidFill>
              </a:defRPr>
            </a:pPr>
            <a:r>
              <a:t>Vector Store Architecture</a:t>
            </a:r>
          </a:p>
          <a:p>
            <a:pPr>
              <a:spcAft>
                <a:spcPts val="100"/>
              </a:spcAft>
              <a:defRPr sz="800" b="0">
                <a:solidFill>
                  <a:srgbClr val="444444"/>
                </a:solidFill>
              </a:defRPr>
            </a:pPr>
            <a:r>
              <a:t>ChromaDB with cosine similarity  |  1,536-dim OpenAI vectors  |  HNSW index  |  530MB on disk (Git LFS)</a:t>
            </a:r>
          </a:p>
          <a:p>
            <a:pPr>
              <a:spcAft>
                <a:spcPts val="100"/>
              </a:spcAft>
              <a:defRPr sz="800" b="0">
                <a:solidFill>
                  <a:srgbClr val="444444"/>
                </a:solidFill>
              </a:defRPr>
            </a:pPr>
            <a:r>
              <a:t>Filter-first retrieval: metadata WHERE clause applied before similarity search - irrelevant chunks never enter the calculation</a:t>
            </a:r>
          </a:p>
          <a:p>
            <a:pPr>
              <a:spcAft>
                <a:spcPts val="100"/>
              </a:spcAft>
              <a:defRPr sz="800" b="0">
                <a:solidFill>
                  <a:srgbClr val="444444"/>
                </a:solidFill>
              </a:defRPr>
            </a:pPr>
            <a:r>
              <a:t>Production migration: pgvector with normalized schema (embeddings table + chunks table with FK) - 1 day, pipeline unchanged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rot="720000">
            <a:off x="5943600" y="-914400"/>
            <a:ext cx="4572000" cy="6972300"/>
          </a:xfrm>
          <a:prstGeom prst="rect">
            <a:avLst/>
          </a:prstGeom>
          <a:solidFill>
            <a:srgbClr val="0D4F6B">
              <a:alpha val="50000"/>
            </a:srgbClr>
          </a:solidFill>
          <a:ln/>
        </p:spPr>
        <p:txBody>
          <a:bodyPr/>
          <a:p/>
        </p:txBody>
      </p:sp>
      <p:sp>
        <p:nvSpPr>
          <p:cNvPr id="3" name="Text 1"/>
          <p:cNvSpPr/>
          <p:nvPr/>
        </p:nvSpPr>
        <p:spPr>
          <a:xfrm>
            <a:off x="731520" y="73152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Built for enterprise deployment</a:t>
            </a:r>
            <a:endParaRPr lang="en-US" sz="3200" dirty="0"/>
          </a:p>
        </p:txBody>
      </p:sp>
      <p:pic>
        <p:nvPicPr>
          <p:cNvPr id="4" name="Image 0" descr="preencoded.png"/>
          <p:cNvPicPr>
            <a:picLocks noChangeAspect="1"/>
          </p:cNvPicPr>
          <p:nvPr/>
        </p:nvPicPr>
        <p:blipFill>
          <a:blip r:embed="rId3"/>
          <a:stretch>
            <a:fillRect/>
          </a:stretch>
        </p:blipFill>
        <p:spPr>
          <a:xfrm>
            <a:off x="731520" y="1691640"/>
            <a:ext cx="274320" cy="274320"/>
          </a:xfrm>
          <a:prstGeom prst="rect">
            <a:avLst/>
          </a:prstGeom>
        </p:spPr>
      </p:pic>
      <p:sp>
        <p:nvSpPr>
          <p:cNvPr id="5" name="Text 2"/>
          <p:cNvSpPr/>
          <p:nvPr/>
        </p:nvSpPr>
        <p:spPr>
          <a:xfrm>
            <a:off x="1188720" y="1645920"/>
            <a:ext cx="6400800" cy="25603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Filter-first retrieval</a:t>
            </a:r>
            <a:endParaRPr lang="en-US" sz="1400" dirty="0"/>
          </a:p>
        </p:txBody>
      </p:sp>
      <p:sp>
        <p:nvSpPr>
          <p:cNvPr id="6" name="Text 3"/>
          <p:cNvSpPr/>
          <p:nvPr/>
        </p:nvSpPr>
        <p:spPr>
          <a:xfrm>
            <a:off x="1188720" y="1920240"/>
            <a:ext cx="64008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Metadata filters applied before semantic search  -  irrelevant data never enters the similarity calculation</a:t>
            </a:r>
            <a:endParaRPr lang="en-US" sz="1100" dirty="0"/>
          </a:p>
        </p:txBody>
      </p:sp>
      <p:pic>
        <p:nvPicPr>
          <p:cNvPr id="7" name="Image 1" descr="preencoded.png"/>
          <p:cNvPicPr>
            <a:picLocks noChangeAspect="1"/>
          </p:cNvPicPr>
          <p:nvPr/>
        </p:nvPicPr>
        <p:blipFill>
          <a:blip r:embed="rId4"/>
          <a:stretch>
            <a:fillRect/>
          </a:stretch>
        </p:blipFill>
        <p:spPr>
          <a:xfrm>
            <a:off x="731520" y="2468880"/>
            <a:ext cx="274320" cy="274320"/>
          </a:xfrm>
          <a:prstGeom prst="rect">
            <a:avLst/>
          </a:prstGeom>
        </p:spPr>
      </p:pic>
      <p:sp>
        <p:nvSpPr>
          <p:cNvPr id="8" name="Text 4"/>
          <p:cNvSpPr/>
          <p:nvPr/>
        </p:nvSpPr>
        <p:spPr>
          <a:xfrm>
            <a:off x="1188720" y="2423160"/>
            <a:ext cx="6400800" cy="25603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Security at the data layer</a:t>
            </a:r>
            <a:endParaRPr lang="en-US" sz="1400" dirty="0"/>
          </a:p>
        </p:txBody>
      </p:sp>
      <p:sp>
        <p:nvSpPr>
          <p:cNvPr id="9" name="Text 5"/>
          <p:cNvSpPr/>
          <p:nvPr/>
        </p:nvSpPr>
        <p:spPr>
          <a:xfrm>
            <a:off x="1188720" y="2697480"/>
            <a:ext cx="64008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Access control enforced in ChromaDB where clauses, not post-retrieval filtering. Restricted chunks never leave the store</a:t>
            </a:r>
            <a:endParaRPr lang="en-US" sz="1100" dirty="0"/>
          </a:p>
        </p:txBody>
      </p:sp>
      <p:pic>
        <p:nvPicPr>
          <p:cNvPr id="10" name="Image 2" descr="preencoded.png"/>
          <p:cNvPicPr>
            <a:picLocks noChangeAspect="1"/>
          </p:cNvPicPr>
          <p:nvPr/>
        </p:nvPicPr>
        <p:blipFill>
          <a:blip r:embed="rId5"/>
          <a:stretch>
            <a:fillRect/>
          </a:stretch>
        </p:blipFill>
        <p:spPr>
          <a:xfrm>
            <a:off x="731520" y="3246120"/>
            <a:ext cx="274320" cy="274320"/>
          </a:xfrm>
          <a:prstGeom prst="rect">
            <a:avLst/>
          </a:prstGeom>
        </p:spPr>
      </p:pic>
      <p:sp>
        <p:nvSpPr>
          <p:cNvPr id="11" name="Text 6"/>
          <p:cNvSpPr/>
          <p:nvPr/>
        </p:nvSpPr>
        <p:spPr>
          <a:xfrm>
            <a:off x="1188720" y="3200400"/>
            <a:ext cx="6400800" cy="25603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Single LLM call architecture</a:t>
            </a:r>
            <a:endParaRPr lang="en-US" sz="1400" dirty="0"/>
          </a:p>
        </p:txBody>
      </p:sp>
      <p:sp>
        <p:nvSpPr>
          <p:cNvPr id="12" name="Text 7"/>
          <p:cNvSpPr/>
          <p:nvPr/>
        </p:nvSpPr>
        <p:spPr>
          <a:xfrm>
            <a:off x="1188720" y="3474720"/>
            <a:ext cx="64008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One API call per question  -  predictable latency, predictable cost, simple to monitor and audit</a:t>
            </a:r>
            <a:endParaRPr lang="en-US" sz="1100" dirty="0"/>
          </a:p>
        </p:txBody>
      </p:sp>
      <p:pic>
        <p:nvPicPr>
          <p:cNvPr id="13" name="Image 3" descr="preencoded.png"/>
          <p:cNvPicPr>
            <a:picLocks noChangeAspect="1"/>
          </p:cNvPicPr>
          <p:nvPr/>
        </p:nvPicPr>
        <p:blipFill>
          <a:blip r:embed="rId6"/>
          <a:stretch>
            <a:fillRect/>
          </a:stretch>
        </p:blipFill>
        <p:spPr>
          <a:xfrm>
            <a:off x="731520" y="4023360"/>
            <a:ext cx="274320" cy="274320"/>
          </a:xfrm>
          <a:prstGeom prst="rect">
            <a:avLst/>
          </a:prstGeom>
        </p:spPr>
      </p:pic>
      <p:sp>
        <p:nvSpPr>
          <p:cNvPr id="14" name="Text 8"/>
          <p:cNvSpPr/>
          <p:nvPr/>
        </p:nvSpPr>
        <p:spPr>
          <a:xfrm>
            <a:off x="1188720" y="3977640"/>
            <a:ext cx="6400800" cy="25603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Zero-touch adaptability</a:t>
            </a:r>
            <a:endParaRPr lang="en-US" sz="1400" dirty="0"/>
          </a:p>
        </p:txBody>
      </p:sp>
      <p:sp>
        <p:nvSpPr>
          <p:cNvPr id="15" name="Text 9"/>
          <p:cNvSpPr/>
          <p:nvPr/>
        </p:nvSpPr>
        <p:spPr>
          <a:xfrm>
            <a:off x="1188720" y="4251960"/>
            <a:ext cx="64008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Add a new company or filing type: drop files in the corpus, rebuild the index. No code changes required</a:t>
            </a:r>
            <a:endParaRPr lang="en-US" sz="1100" dirty="0"/>
          </a:p>
        </p:txBody>
      </p:sp>
      <p:sp>
        <p:nvSpPr>
          <p:cNvPr id="16" name="Text 10"/>
          <p:cNvSpPr/>
          <p:nvPr/>
        </p:nvSpPr>
        <p:spPr>
          <a:xfrm>
            <a:off x="731520" y="4617720"/>
            <a:ext cx="777240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Chris Jaston  |  chris.jaston@gmail.com  |  github.com/cjaston/sec-edgar-rag</a:t>
            </a:r>
            <a:endParaRPr lang="en-US" sz="1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500" b="1">
                <a:solidFill>
                  <a:srgbClr val="FFFFFF"/>
                </a:solidFill>
              </a:defRPr>
            </a:pPr>
            <a:r>
              <a:t>CORE: BALANCED RETRIEVAL</a:t>
            </a:r>
          </a:p>
        </p:txBody>
      </p:sp>
      <p:sp>
        <p:nvSpPr>
          <p:cNvPr id="4" name="TextBox 3"/>
          <p:cNvSpPr txBox="1"/>
          <p:nvPr/>
        </p:nvSpPr>
        <p:spPr>
          <a:xfrm>
            <a:off x="5486400" y="9144"/>
            <a:ext cx="3429000" cy="329184"/>
          </a:xfrm>
          <a:prstGeom prst="rect">
            <a:avLst/>
          </a:prstGeom>
          <a:noFill/>
        </p:spPr>
        <p:txBody>
          <a:bodyPr wrap="none">
            <a:spAutoFit/>
          </a:bodyPr>
          <a:lstStyle/>
          <a:p>
            <a:pPr algn="r">
              <a:defRPr sz="900">
                <a:solidFill>
                  <a:srgbClr val="888888"/>
                </a:solidFill>
              </a:defRPr>
            </a:pPr>
            <a:r>
              <a:t>sec-edgar-rag/src/query/retriever.py</a:t>
            </a:r>
          </a:p>
        </p:txBody>
      </p:sp>
      <p:sp>
        <p:nvSpPr>
          <p:cNvPr id="5" name="Rectangle 4"/>
          <p:cNvSpPr/>
          <p:nvPr/>
        </p:nvSpPr>
        <p:spPr>
          <a:xfrm>
            <a:off x="182880" y="457200"/>
            <a:ext cx="8778240" cy="32004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502920"/>
            <a:ext cx="8504880" cy="3108960"/>
          </a:xfrm>
          <a:prstGeom prst="rect">
            <a:avLst/>
          </a:prstGeom>
          <a:noFill/>
        </p:spPr>
        <p:txBody>
          <a:bodyPr wrap="square">
            <a:spAutoFit/>
          </a:bodyPr>
          <a:lstStyle/>
          <a:p>
            <a:pPr>
              <a:lnSpc>
                <a:spcPts val="1100"/>
              </a:lnSpc>
              <a:spcBef>
                <a:spcPts val="0"/>
              </a:spcBef>
              <a:spcAft>
                <a:spcPts val="0"/>
              </a:spcAft>
              <a:defRPr sz="800">
                <a:solidFill>
                  <a:srgbClr val="89B4FA"/>
                </a:solidFill>
                <a:latin typeface="Courier New"/>
              </a:defRPr>
            </a:pPr>
            <a:r>
              <a:t>def _retrieve_balanced(tickers, query_embedding, ...):</a:t>
            </a:r>
          </a:p>
          <a:p>
            <a:pPr>
              <a:lnSpc>
                <a:spcPts val="1100"/>
              </a:lnSpc>
              <a:spcBef>
                <a:spcPts val="0"/>
              </a:spcBef>
              <a:spcAft>
                <a:spcPts val="0"/>
              </a:spcAft>
              <a:defRPr sz="800">
                <a:solidFill>
                  <a:srgbClr val="6C7086"/>
                </a:solidFill>
                <a:latin typeface="Courier New"/>
              </a:defRPr>
            </a:pPr>
            <a:r>
              <a:t xml:space="preserve">    # Equal retrieval slots per company</a:t>
            </a:r>
          </a:p>
          <a:p>
            <a:pPr>
              <a:lnSpc>
                <a:spcPts val="1100"/>
              </a:lnSpc>
              <a:spcBef>
                <a:spcPts val="0"/>
              </a:spcBef>
              <a:spcAft>
                <a:spcPts val="0"/>
              </a:spcAft>
              <a:defRPr sz="800">
                <a:solidFill>
                  <a:srgbClr val="CDD6F4"/>
                </a:solidFill>
                <a:latin typeface="Courier New"/>
              </a:defRPr>
            </a:pPr>
            <a:r>
              <a:t xml:space="preserve">    per_ticker = max(top_k // len(tickers), 5)</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CDD6F4"/>
                </a:solidFill>
                <a:latin typeface="Courier New"/>
              </a:defRPr>
            </a:pPr>
            <a:r>
              <a:t xml:space="preserve">    for ticker in tickers:</a:t>
            </a:r>
          </a:p>
          <a:p>
            <a:pPr>
              <a:lnSpc>
                <a:spcPts val="1100"/>
              </a:lnSpc>
              <a:spcBef>
                <a:spcPts val="0"/>
              </a:spcBef>
              <a:spcAft>
                <a:spcPts val="0"/>
              </a:spcAft>
              <a:defRPr sz="800">
                <a:solidFill>
                  <a:srgbClr val="6C7086"/>
                </a:solidFill>
                <a:latin typeface="Courier New"/>
              </a:defRPr>
            </a:pPr>
            <a:r>
              <a:t xml:space="preserve">        # Metadata filter: ticker + user access control</a:t>
            </a:r>
          </a:p>
          <a:p>
            <a:pPr>
              <a:lnSpc>
                <a:spcPts val="1100"/>
              </a:lnSpc>
              <a:spcBef>
                <a:spcPts val="0"/>
              </a:spcBef>
              <a:spcAft>
                <a:spcPts val="0"/>
              </a:spcAft>
              <a:defRPr sz="800">
                <a:solidFill>
                  <a:srgbClr val="CDD6F4"/>
                </a:solidFill>
                <a:latin typeface="Courier New"/>
              </a:defRPr>
            </a:pPr>
            <a:r>
              <a:t xml:space="preserve">        where = _add_filter(access_filter, {"ticker": ticker})</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6C7086"/>
                </a:solidFill>
                <a:latin typeface="Courier New"/>
              </a:defRPr>
            </a:pPr>
            <a:r>
              <a:t xml:space="preserve">        # Section filter  -  fuzzy match handles naming variants</a:t>
            </a:r>
          </a:p>
          <a:p>
            <a:pPr>
              <a:lnSpc>
                <a:spcPts val="1100"/>
              </a:lnSpc>
              <a:spcBef>
                <a:spcPts val="0"/>
              </a:spcBef>
              <a:spcAft>
                <a:spcPts val="0"/>
              </a:spcAft>
              <a:defRPr sz="800">
                <a:solidFill>
                  <a:srgbClr val="CDD6F4"/>
                </a:solidFill>
                <a:latin typeface="Courier New"/>
              </a:defRPr>
            </a:pPr>
            <a:r>
              <a:t xml:space="preserve">        if section_hint:</a:t>
            </a:r>
          </a:p>
          <a:p>
            <a:pPr>
              <a:lnSpc>
                <a:spcPts val="1100"/>
              </a:lnSpc>
              <a:spcBef>
                <a:spcPts val="0"/>
              </a:spcBef>
              <a:spcAft>
                <a:spcPts val="0"/>
              </a:spcAft>
              <a:defRPr sz="800">
                <a:solidFill>
                  <a:srgbClr val="CDD6F4"/>
                </a:solidFill>
                <a:latin typeface="Courier New"/>
              </a:defRPr>
            </a:pPr>
            <a:r>
              <a:t xml:space="preserve">            matching = _find_matching_sections(collection, ticker, hint)</a:t>
            </a:r>
          </a:p>
          <a:p>
            <a:pPr>
              <a:lnSpc>
                <a:spcPts val="1100"/>
              </a:lnSpc>
              <a:spcBef>
                <a:spcPts val="0"/>
              </a:spcBef>
              <a:spcAft>
                <a:spcPts val="0"/>
              </a:spcAft>
              <a:defRPr sz="800">
                <a:solidFill>
                  <a:srgbClr val="CDD6F4"/>
                </a:solidFill>
                <a:latin typeface="Courier New"/>
              </a:defRPr>
            </a:pPr>
            <a:r>
              <a:t xml:space="preserve">            where = _add_filter(where, {"section_name": matching[0]})</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6C7086"/>
                </a:solidFill>
                <a:latin typeface="Courier New"/>
              </a:defRPr>
            </a:pPr>
            <a:r>
              <a:t xml:space="preserve">        # Filtered semantic search per company</a:t>
            </a:r>
          </a:p>
          <a:p>
            <a:pPr>
              <a:lnSpc>
                <a:spcPts val="1100"/>
              </a:lnSpc>
              <a:spcBef>
                <a:spcPts val="0"/>
              </a:spcBef>
              <a:spcAft>
                <a:spcPts val="0"/>
              </a:spcAft>
              <a:defRPr sz="800">
                <a:solidFill>
                  <a:srgbClr val="CDD6F4"/>
                </a:solidFill>
                <a:latin typeface="Courier New"/>
              </a:defRPr>
            </a:pPr>
            <a:r>
              <a:t xml:space="preserve">        results = collection.query(</a:t>
            </a:r>
          </a:p>
          <a:p>
            <a:pPr>
              <a:lnSpc>
                <a:spcPts val="1100"/>
              </a:lnSpc>
              <a:spcBef>
                <a:spcPts val="0"/>
              </a:spcBef>
              <a:spcAft>
                <a:spcPts val="0"/>
              </a:spcAft>
              <a:defRPr sz="800">
                <a:solidFill>
                  <a:srgbClr val="CDD6F4"/>
                </a:solidFill>
                <a:latin typeface="Courier New"/>
              </a:defRPr>
            </a:pPr>
            <a:r>
              <a:t xml:space="preserve">            query_embeddings=[query_embedding],</a:t>
            </a:r>
          </a:p>
          <a:p>
            <a:pPr>
              <a:lnSpc>
                <a:spcPts val="1100"/>
              </a:lnSpc>
              <a:spcBef>
                <a:spcPts val="0"/>
              </a:spcBef>
              <a:spcAft>
                <a:spcPts val="0"/>
              </a:spcAft>
              <a:defRPr sz="800">
                <a:solidFill>
                  <a:srgbClr val="CDD6F4"/>
                </a:solidFill>
                <a:latin typeface="Courier New"/>
              </a:defRPr>
            </a:pPr>
            <a:r>
              <a:t xml:space="preserve">            n_results=per_ticker, where=where)</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6C7086"/>
                </a:solidFill>
                <a:latin typeface="Courier New"/>
              </a:defRPr>
            </a:pPr>
            <a:r>
              <a:t xml:space="preserve">    # Merge all companies, rank by cosine distance</a:t>
            </a:r>
          </a:p>
          <a:p>
            <a:pPr>
              <a:lnSpc>
                <a:spcPts val="1100"/>
              </a:lnSpc>
              <a:spcBef>
                <a:spcPts val="0"/>
              </a:spcBef>
              <a:spcAft>
                <a:spcPts val="0"/>
              </a:spcAft>
              <a:defRPr sz="800">
                <a:solidFill>
                  <a:srgbClr val="CDD6F4"/>
                </a:solidFill>
                <a:latin typeface="Courier New"/>
              </a:defRPr>
            </a:pPr>
            <a:r>
              <a:t xml:space="preserve">    all_chunks.sort(key=lambda c: c["distance"])</a:t>
            </a:r>
          </a:p>
          <a:p>
            <a:pPr>
              <a:lnSpc>
                <a:spcPts val="1100"/>
              </a:lnSpc>
              <a:spcBef>
                <a:spcPts val="0"/>
              </a:spcBef>
              <a:spcAft>
                <a:spcPts val="0"/>
              </a:spcAft>
              <a:defRPr sz="800">
                <a:solidFill>
                  <a:srgbClr val="CDD6F4"/>
                </a:solidFill>
                <a:latin typeface="Courier New"/>
              </a:defRPr>
            </a:pPr>
            <a:r>
              <a:t xml:space="preserve">    return all_chunks[:top_k]</a:t>
            </a:r>
          </a:p>
        </p:txBody>
      </p:sp>
      <p:sp>
        <p:nvSpPr>
          <p:cNvPr id="7" name="TextBox 6"/>
          <p:cNvSpPr txBox="1"/>
          <p:nvPr/>
        </p:nvSpPr>
        <p:spPr>
          <a:xfrm>
            <a:off x="182880" y="3749040"/>
            <a:ext cx="8778240" cy="1280160"/>
          </a:xfrm>
          <a:prstGeom prst="rect">
            <a:avLst/>
          </a:prstGeom>
          <a:noFill/>
        </p:spPr>
        <p:txBody>
          <a:bodyPr wrap="square">
            <a:spAutoFit/>
          </a:bodyPr>
          <a:lstStyle/>
          <a:p>
            <a:pPr>
              <a:spcBef>
                <a:spcPts val="400"/>
              </a:spcBef>
              <a:spcAft>
                <a:spcPts val="100"/>
              </a:spcAft>
              <a:defRPr sz="1000" b="1">
                <a:solidFill>
                  <a:srgbClr val="1A1A1A"/>
                </a:solidFill>
              </a:defRPr>
            </a:pPr>
            <a:r>
              <a:t>What this solves</a:t>
            </a:r>
          </a:p>
          <a:p>
            <a:pPr>
              <a:spcAft>
                <a:spcPts val="100"/>
              </a:spcAft>
              <a:defRPr sz="900">
                <a:solidFill>
                  <a:srgbClr val="444444"/>
                </a:solidFill>
              </a:defRPr>
            </a:pPr>
            <a:r>
              <a:t>Without balancing, "Compare Apple, Tesla, and JPMorgan risk factors" returned all 25 results from JPMorgan  -  its financial language was semantically closer to the query (distance 0.45 vs AAPL 0.47, TSLA 0.50).</a:t>
            </a:r>
          </a:p>
          <a:p>
            <a:pPr>
              <a:spcBef>
                <a:spcPts val="400"/>
              </a:spcBef>
              <a:spcAft>
                <a:spcPts val="100"/>
              </a:spcAft>
              <a:defRPr sz="1000" b="1">
                <a:solidFill>
                  <a:srgbClr val="1A1A1A"/>
                </a:solidFill>
              </a:defRPr>
            </a:pPr>
            <a:r>
              <a:t>How it works</a:t>
            </a:r>
          </a:p>
          <a:p>
            <a:pPr>
              <a:spcAft>
                <a:spcPts val="100"/>
              </a:spcAft>
              <a:defRPr sz="900">
                <a:solidFill>
                  <a:srgbClr val="444444"/>
                </a:solidFill>
              </a:defRPr>
            </a:pPr>
            <a:r>
              <a:t>Retrieves top chunks per ticker independently, applies section-aware filters that handle naming variations (e.g., "Risk Factors" vs "Risk Factors."), then merges all results by cosine distance. Every mentioned company is guaranteed representation in the final LLM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500" b="1">
                <a:solidFill>
                  <a:srgbClr val="FFFFFF"/>
                </a:solidFill>
              </a:defRPr>
            </a:pPr>
            <a:r>
              <a:t>CORE: PROMPT &amp; GROUNDING</a:t>
            </a:r>
          </a:p>
        </p:txBody>
      </p:sp>
      <p:sp>
        <p:nvSpPr>
          <p:cNvPr id="4" name="TextBox 3"/>
          <p:cNvSpPr txBox="1"/>
          <p:nvPr/>
        </p:nvSpPr>
        <p:spPr>
          <a:xfrm>
            <a:off x="5486400" y="9144"/>
            <a:ext cx="3429000" cy="329184"/>
          </a:xfrm>
          <a:prstGeom prst="rect">
            <a:avLst/>
          </a:prstGeom>
          <a:noFill/>
        </p:spPr>
        <p:txBody>
          <a:bodyPr wrap="none">
            <a:spAutoFit/>
          </a:bodyPr>
          <a:lstStyle/>
          <a:p>
            <a:pPr algn="r">
              <a:defRPr sz="900">
                <a:solidFill>
                  <a:srgbClr val="888888"/>
                </a:solidFill>
              </a:defRPr>
            </a:pPr>
            <a:r>
              <a:t>sec-edgar-rag/src/query/prompt.py</a:t>
            </a:r>
          </a:p>
        </p:txBody>
      </p:sp>
      <p:sp>
        <p:nvSpPr>
          <p:cNvPr id="5" name="Rectangle 4"/>
          <p:cNvSpPr/>
          <p:nvPr/>
        </p:nvSpPr>
        <p:spPr>
          <a:xfrm>
            <a:off x="182880" y="457200"/>
            <a:ext cx="8778240" cy="32004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502920"/>
            <a:ext cx="8504880" cy="3108960"/>
          </a:xfrm>
          <a:prstGeom prst="rect">
            <a:avLst/>
          </a:prstGeom>
          <a:noFill/>
        </p:spPr>
        <p:txBody>
          <a:bodyPr wrap="square">
            <a:spAutoFit/>
          </a:bodyPr>
          <a:lstStyle/>
          <a:p>
            <a:pPr>
              <a:lnSpc>
                <a:spcPts val="1100"/>
              </a:lnSpc>
              <a:spcBef>
                <a:spcPts val="0"/>
              </a:spcBef>
              <a:spcAft>
                <a:spcPts val="0"/>
              </a:spcAft>
              <a:defRPr sz="800">
                <a:solidFill>
                  <a:srgbClr val="CDD6F4"/>
                </a:solidFill>
                <a:latin typeface="Courier New"/>
              </a:defRPr>
            </a:pPr>
            <a:r>
              <a:t>SYSTEM_PROMPT = """You are a financial research assistant.</a:t>
            </a:r>
          </a:p>
          <a:p>
            <a:pPr>
              <a:lnSpc>
                <a:spcPts val="1100"/>
              </a:lnSpc>
              <a:spcBef>
                <a:spcPts val="0"/>
              </a:spcBef>
              <a:spcAft>
                <a:spcPts val="0"/>
              </a:spcAft>
              <a:defRPr sz="800">
                <a:solidFill>
                  <a:srgbClr val="CDD6F4"/>
                </a:solidFill>
                <a:latin typeface="Courier New"/>
              </a:defRPr>
            </a:pPr>
            <a:r>
              <a:t>Answer using ONLY the provided SEC filing excerpts.</a:t>
            </a:r>
          </a:p>
          <a:p>
            <a:pPr>
              <a:lnSpc>
                <a:spcPts val="1100"/>
              </a:lnSpc>
              <a:spcBef>
                <a:spcPts val="0"/>
              </a:spcBef>
              <a:spcAft>
                <a:spcPts val="0"/>
              </a:spcAft>
              <a:defRPr sz="800">
                <a:solidFill>
                  <a:srgbClr val="CDD6F4"/>
                </a:solidFill>
                <a:latin typeface="Courier New"/>
              </a:defRPr>
            </a:pPr>
            <a:r>
              <a:t>1. No outside knowledge</a:t>
            </a:r>
          </a:p>
          <a:p>
            <a:pPr>
              <a:lnSpc>
                <a:spcPts val="1100"/>
              </a:lnSpc>
              <a:spcBef>
                <a:spcPts val="0"/>
              </a:spcBef>
              <a:spcAft>
                <a:spcPts val="0"/>
              </a:spcAft>
              <a:defRPr sz="800">
                <a:solidFill>
                  <a:srgbClr val="CDD6F4"/>
                </a:solidFill>
                <a:latin typeface="Courier New"/>
              </a:defRPr>
            </a:pPr>
            <a:r>
              <a:t>2. Cite every claim: [Company, Filing Type, Date, Section]</a:t>
            </a:r>
          </a:p>
          <a:p>
            <a:pPr>
              <a:lnSpc>
                <a:spcPts val="1100"/>
              </a:lnSpc>
              <a:spcBef>
                <a:spcPts val="0"/>
              </a:spcBef>
              <a:spcAft>
                <a:spcPts val="0"/>
              </a:spcAft>
              <a:defRPr sz="800">
                <a:solidFill>
                  <a:srgbClr val="CDD6F4"/>
                </a:solidFill>
                <a:latin typeface="Courier New"/>
              </a:defRPr>
            </a:pPr>
            <a:r>
              <a:t>3. Say clearly if context is insufficient</a:t>
            </a:r>
          </a:p>
          <a:p>
            <a:pPr>
              <a:lnSpc>
                <a:spcPts val="1100"/>
              </a:lnSpc>
              <a:spcBef>
                <a:spcPts val="0"/>
              </a:spcBef>
              <a:spcAft>
                <a:spcPts val="0"/>
              </a:spcAft>
              <a:defRPr sz="800">
                <a:solidFill>
                  <a:srgbClr val="CDD6F4"/>
                </a:solidFill>
                <a:latin typeface="Courier New"/>
              </a:defRPr>
            </a:pPr>
            <a:r>
              <a:t>4. Organize comparisons with clear headings</a:t>
            </a:r>
          </a:p>
          <a:p>
            <a:pPr>
              <a:lnSpc>
                <a:spcPts val="1100"/>
              </a:lnSpc>
              <a:spcBef>
                <a:spcPts val="0"/>
              </a:spcBef>
              <a:spcAft>
                <a:spcPts val="0"/>
              </a:spcAft>
              <a:defRPr sz="800">
                <a:solidFill>
                  <a:srgbClr val="CDD6F4"/>
                </a:solidFill>
                <a:latin typeface="Courier New"/>
              </a:defRPr>
            </a:pPr>
            <a:r>
              <a:t>5. Include specific numbers, dates, and quotes</a:t>
            </a:r>
          </a:p>
          <a:p>
            <a:pPr>
              <a:lnSpc>
                <a:spcPts val="1100"/>
              </a:lnSpc>
              <a:spcBef>
                <a:spcPts val="0"/>
              </a:spcBef>
              <a:spcAft>
                <a:spcPts val="0"/>
              </a:spcAft>
              <a:defRPr sz="800">
                <a:solidFill>
                  <a:srgbClr val="CDD6F4"/>
                </a:solidFill>
                <a:latin typeface="Courier New"/>
              </a:defRPr>
            </a:pPr>
            <a:r>
              <a:t>Style: 300-500 words, bullets, lead with key insight."""</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89B4FA"/>
                </a:solidFill>
                <a:latin typeface="Courier New"/>
              </a:defRPr>
            </a:pPr>
            <a:r>
              <a:t>def build_prompt(query, chunks):</a:t>
            </a:r>
          </a:p>
          <a:p>
            <a:pPr>
              <a:lnSpc>
                <a:spcPts val="1100"/>
              </a:lnSpc>
              <a:spcBef>
                <a:spcPts val="0"/>
              </a:spcBef>
              <a:spcAft>
                <a:spcPts val="0"/>
              </a:spcAft>
              <a:defRPr sz="800">
                <a:solidFill>
                  <a:srgbClr val="CDD6F4"/>
                </a:solidFill>
                <a:latin typeface="Courier New"/>
              </a:defRPr>
            </a:pPr>
            <a:r>
              <a:t xml:space="preserve">    for i, chunk in enumerate(chunks, 1):</a:t>
            </a:r>
          </a:p>
          <a:p>
            <a:pPr>
              <a:lnSpc>
                <a:spcPts val="1100"/>
              </a:lnSpc>
              <a:spcBef>
                <a:spcPts val="0"/>
              </a:spcBef>
              <a:spcAft>
                <a:spcPts val="0"/>
              </a:spcAft>
              <a:defRPr sz="800">
                <a:solidFill>
                  <a:srgbClr val="CDD6F4"/>
                </a:solidFill>
                <a:latin typeface="Courier New"/>
              </a:defRPr>
            </a:pPr>
            <a:r>
              <a:t xml:space="preserve">        meta = chunk["metadata"]</a:t>
            </a:r>
          </a:p>
          <a:p>
            <a:pPr>
              <a:lnSpc>
                <a:spcPts val="1100"/>
              </a:lnSpc>
              <a:spcBef>
                <a:spcPts val="0"/>
              </a:spcBef>
              <a:spcAft>
                <a:spcPts val="0"/>
              </a:spcAft>
              <a:defRPr sz="800">
                <a:solidFill>
                  <a:srgbClr val="6C7086"/>
                </a:solidFill>
                <a:latin typeface="Courier New"/>
              </a:defRPr>
            </a:pPr>
            <a:r>
              <a:t xml:space="preserve">        # Source header enables LLM citation</a:t>
            </a:r>
          </a:p>
          <a:p>
            <a:pPr>
              <a:lnSpc>
                <a:spcPts val="1100"/>
              </a:lnSpc>
              <a:spcBef>
                <a:spcPts val="0"/>
              </a:spcBef>
              <a:spcAft>
                <a:spcPts val="0"/>
              </a:spcAft>
              <a:defRPr sz="800">
                <a:solidFill>
                  <a:srgbClr val="CDD6F4"/>
                </a:solidFill>
                <a:latin typeface="Courier New"/>
              </a:defRPr>
            </a:pPr>
            <a:r>
              <a:t xml:space="preserve">        header = f"[Source {i}: {meta['ticker']} | {meta['filing_type']}"</a:t>
            </a:r>
          </a:p>
          <a:p>
            <a:pPr>
              <a:lnSpc>
                <a:spcPts val="1100"/>
              </a:lnSpc>
              <a:spcBef>
                <a:spcPts val="0"/>
              </a:spcBef>
              <a:spcAft>
                <a:spcPts val="0"/>
              </a:spcAft>
              <a:defRPr sz="800">
                <a:solidFill>
                  <a:srgbClr val="CDD6F4"/>
                </a:solidFill>
                <a:latin typeface="Courier New"/>
              </a:defRPr>
            </a:pPr>
            <a:r>
              <a:t xml:space="preserve">                 f" | {meta['filing_date']} | {meta['section_name']}]"</a:t>
            </a:r>
          </a:p>
          <a:p>
            <a:pPr>
              <a:lnSpc>
                <a:spcPts val="1100"/>
              </a:lnSpc>
              <a:spcBef>
                <a:spcPts val="0"/>
              </a:spcBef>
              <a:spcAft>
                <a:spcPts val="0"/>
              </a:spcAft>
              <a:defRPr sz="800">
                <a:solidFill>
                  <a:srgbClr val="CDD6F4"/>
                </a:solidFill>
                <a:latin typeface="Courier New"/>
              </a:defRPr>
            </a:pPr>
            <a:r>
              <a:t xml:space="preserve">        context_parts.append(f"{header}\n{chunk['text']}")</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6C7086"/>
                </a:solidFill>
                <a:latin typeface="Courier New"/>
              </a:defRPr>
            </a:pPr>
            <a:r>
              <a:t xml:space="preserve">    # Returns [system, user] message array -&gt; single LLM API call</a:t>
            </a:r>
          </a:p>
          <a:p>
            <a:pPr>
              <a:lnSpc>
                <a:spcPts val="1100"/>
              </a:lnSpc>
              <a:spcBef>
                <a:spcPts val="0"/>
              </a:spcBef>
              <a:spcAft>
                <a:spcPts val="0"/>
              </a:spcAft>
              <a:defRPr sz="800">
                <a:solidFill>
                  <a:srgbClr val="CDD6F4"/>
                </a:solidFill>
                <a:latin typeface="Courier New"/>
              </a:defRPr>
            </a:pPr>
            <a:r>
              <a:t xml:space="preserve">    return [{"role": "system", "content": SYSTEM_PROMPT},</a:t>
            </a:r>
          </a:p>
          <a:p>
            <a:pPr>
              <a:lnSpc>
                <a:spcPts val="1100"/>
              </a:lnSpc>
              <a:spcBef>
                <a:spcPts val="0"/>
              </a:spcBef>
              <a:spcAft>
                <a:spcPts val="0"/>
              </a:spcAft>
              <a:defRPr sz="800">
                <a:solidFill>
                  <a:srgbClr val="CDD6F4"/>
                </a:solidFill>
                <a:latin typeface="Courier New"/>
              </a:defRPr>
            </a:pPr>
            <a:r>
              <a:t xml:space="preserve">            {"role": "user", "content": f"Question: {query}\n\n{context}"}]</a:t>
            </a:r>
          </a:p>
        </p:txBody>
      </p:sp>
      <p:sp>
        <p:nvSpPr>
          <p:cNvPr id="7" name="TextBox 6"/>
          <p:cNvSpPr txBox="1"/>
          <p:nvPr/>
        </p:nvSpPr>
        <p:spPr>
          <a:xfrm>
            <a:off x="182880" y="3749040"/>
            <a:ext cx="8778240" cy="1280160"/>
          </a:xfrm>
          <a:prstGeom prst="rect">
            <a:avLst/>
          </a:prstGeom>
          <a:noFill/>
        </p:spPr>
        <p:txBody>
          <a:bodyPr wrap="square">
            <a:spAutoFit/>
          </a:bodyPr>
          <a:lstStyle/>
          <a:p>
            <a:pPr>
              <a:spcBef>
                <a:spcPts val="400"/>
              </a:spcBef>
              <a:spcAft>
                <a:spcPts val="100"/>
              </a:spcAft>
              <a:defRPr sz="1000" b="1">
                <a:solidFill>
                  <a:srgbClr val="1A1A1A"/>
                </a:solidFill>
              </a:defRPr>
            </a:pPr>
            <a:r>
              <a:t>What this does</a:t>
            </a:r>
          </a:p>
          <a:p>
            <a:pPr>
              <a:spcAft>
                <a:spcPts val="100"/>
              </a:spcAft>
              <a:defRPr sz="900">
                <a:solidFill>
                  <a:srgbClr val="444444"/>
                </a:solidFill>
              </a:defRPr>
            </a:pPr>
            <a:r>
              <a:t>Formats retrieved chunks with source headers so the LLM can cite specific filings in its response. The system prompt enforces grounding rules  -  the model must use only provided context, cite every claim, and admit when information is insufficient.</a:t>
            </a:r>
          </a:p>
          <a:p>
            <a:pPr>
              <a:spcBef>
                <a:spcPts val="400"/>
              </a:spcBef>
              <a:spcAft>
                <a:spcPts val="100"/>
              </a:spcAft>
              <a:defRPr sz="1000" b="1">
                <a:solidFill>
                  <a:srgbClr val="1A1A1A"/>
                </a:solidFill>
              </a:defRPr>
            </a:pPr>
            <a:r>
              <a:t>Verification results</a:t>
            </a:r>
          </a:p>
          <a:p>
            <a:pPr>
              <a:spcAft>
                <a:spcPts val="100"/>
              </a:spcAft>
              <a:defRPr sz="900">
                <a:solidFill>
                  <a:srgbClr val="444444"/>
                </a:solidFill>
              </a:defRPr>
            </a:pPr>
            <a:r>
              <a:t>34 factual claims tested against raw filing text by grepping the corpus. 33 exact matches, 1 minor paraphrase, 0 hallucinations. Single API call per answer  -  predictable cost and simple to audit.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500" b="1">
                <a:solidFill>
                  <a:srgbClr val="FFFFFF"/>
                </a:solidFill>
              </a:defRPr>
            </a:pPr>
            <a:r>
              <a:t>CORE: SECTION DEDUPLICATION</a:t>
            </a:r>
          </a:p>
        </p:txBody>
      </p:sp>
      <p:sp>
        <p:nvSpPr>
          <p:cNvPr id="4" name="TextBox 3"/>
          <p:cNvSpPr txBox="1"/>
          <p:nvPr/>
        </p:nvSpPr>
        <p:spPr>
          <a:xfrm>
            <a:off x="5486400" y="9144"/>
            <a:ext cx="3429000" cy="329184"/>
          </a:xfrm>
          <a:prstGeom prst="rect">
            <a:avLst/>
          </a:prstGeom>
          <a:noFill/>
        </p:spPr>
        <p:txBody>
          <a:bodyPr wrap="none">
            <a:spAutoFit/>
          </a:bodyPr>
          <a:lstStyle/>
          <a:p>
            <a:pPr algn="r">
              <a:defRPr sz="900">
                <a:solidFill>
                  <a:srgbClr val="888888"/>
                </a:solidFill>
              </a:defRPr>
            </a:pPr>
            <a:r>
              <a:t>sec-edgar-rag/src/pipeline/chunker.py</a:t>
            </a:r>
          </a:p>
        </p:txBody>
      </p:sp>
      <p:sp>
        <p:nvSpPr>
          <p:cNvPr id="5" name="Rectangle 4"/>
          <p:cNvSpPr/>
          <p:nvPr/>
        </p:nvSpPr>
        <p:spPr>
          <a:xfrm>
            <a:off x="182880" y="457200"/>
            <a:ext cx="8778240" cy="32004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502920"/>
            <a:ext cx="8504880" cy="3108960"/>
          </a:xfrm>
          <a:prstGeom prst="rect">
            <a:avLst/>
          </a:prstGeom>
          <a:noFill/>
        </p:spPr>
        <p:txBody>
          <a:bodyPr wrap="square">
            <a:spAutoFit/>
          </a:bodyPr>
          <a:lstStyle/>
          <a:p>
            <a:pPr>
              <a:lnSpc>
                <a:spcPts val="1100"/>
              </a:lnSpc>
              <a:spcBef>
                <a:spcPts val="0"/>
              </a:spcBef>
              <a:spcAft>
                <a:spcPts val="0"/>
              </a:spcAft>
              <a:defRPr sz="800">
                <a:solidFill>
                  <a:srgbClr val="89B4FA"/>
                </a:solidFill>
                <a:latin typeface="Courier New"/>
              </a:defRPr>
            </a:pPr>
            <a:r>
              <a:t>def _deduplicate_sections(sections):</a:t>
            </a:r>
          </a:p>
          <a:p>
            <a:pPr>
              <a:lnSpc>
                <a:spcPts val="1100"/>
              </a:lnSpc>
              <a:spcBef>
                <a:spcPts val="0"/>
              </a:spcBef>
              <a:spcAft>
                <a:spcPts val="0"/>
              </a:spcAft>
              <a:defRPr sz="800">
                <a:solidFill>
                  <a:srgbClr val="6C7086"/>
                </a:solidFill>
                <a:latin typeface="Courier New"/>
              </a:defRPr>
            </a:pPr>
            <a:r>
              <a:t xml:space="preserve">    # Parser fragments sections at inline refs ("see Item 1A")</a:t>
            </a:r>
          </a:p>
          <a:p>
            <a:pPr>
              <a:lnSpc>
                <a:spcPts val="1100"/>
              </a:lnSpc>
              <a:spcBef>
                <a:spcPts val="0"/>
              </a:spcBef>
              <a:spcAft>
                <a:spcPts val="0"/>
              </a:spcAft>
              <a:defRPr sz="800">
                <a:solidFill>
                  <a:srgbClr val="6C7086"/>
                </a:solidFill>
                <a:latin typeface="Courier New"/>
              </a:defRPr>
            </a:pPr>
            <a:r>
              <a:t xml:space="preserve">    # MSFT 10-K: 15 real sections -&gt; 127 parsed fragments</a:t>
            </a:r>
          </a:p>
          <a:p>
            <a:pPr>
              <a:lnSpc>
                <a:spcPts val="1100"/>
              </a:lnSpc>
              <a:spcBef>
                <a:spcPts val="0"/>
              </a:spcBef>
              <a:spcAft>
                <a:spcPts val="0"/>
              </a:spcAft>
              <a:defRPr sz="800">
                <a:solidFill>
                  <a:srgbClr val="6C7086"/>
                </a:solidFill>
                <a:latin typeface="Courier New"/>
              </a:defRPr>
            </a:pPr>
            <a:r>
              <a:t xml:space="preserve">    # Iter 1: Keep longest per Item       -&gt; lost Part I vs II</a:t>
            </a:r>
          </a:p>
          <a:p>
            <a:pPr>
              <a:lnSpc>
                <a:spcPts val="1100"/>
              </a:lnSpc>
              <a:spcBef>
                <a:spcPts val="0"/>
              </a:spcBef>
              <a:spcAft>
                <a:spcPts val="0"/>
              </a:spcAft>
              <a:defRPr sz="800">
                <a:solidFill>
                  <a:srgbClr val="6C7086"/>
                </a:solidFill>
                <a:latin typeface="Courier New"/>
              </a:defRPr>
            </a:pPr>
            <a:r>
              <a:t xml:space="preserve">    # Iter 2: Keep longest per (Item,Part) -&gt; 30% content loss</a:t>
            </a:r>
          </a:p>
          <a:p>
            <a:pPr>
              <a:lnSpc>
                <a:spcPts val="1100"/>
              </a:lnSpc>
              <a:spcBef>
                <a:spcPts val="0"/>
              </a:spcBef>
              <a:spcAft>
                <a:spcPts val="0"/>
              </a:spcAft>
              <a:defRPr sz="800">
                <a:solidFill>
                  <a:srgbClr val="6C7086"/>
                </a:solidFill>
                <a:latin typeface="Courier New"/>
              </a:defRPr>
            </a:pPr>
            <a:r>
              <a:t xml:space="preserve">    # Iter 3: MERGE per (Item,Part)        -&gt; 100% retained</a:t>
            </a:r>
          </a:p>
          <a:p>
            <a:pPr>
              <a:lnSpc>
                <a:spcPts val="1100"/>
              </a:lnSpc>
              <a:spcBef>
                <a:spcPts val="0"/>
              </a:spcBef>
              <a:spcAft>
                <a:spcPts val="0"/>
              </a:spcAft>
              <a:defRPr sz="800">
                <a:solidFill>
                  <a:srgbClr val="CDD6F4"/>
                </a:solidFill>
                <a:latin typeface="Courier New"/>
              </a:defRPr>
            </a:pPr>
          </a:p>
          <a:p>
            <a:pPr>
              <a:lnSpc>
                <a:spcPts val="1100"/>
              </a:lnSpc>
              <a:spcBef>
                <a:spcPts val="0"/>
              </a:spcBef>
              <a:spcAft>
                <a:spcPts val="0"/>
              </a:spcAft>
              <a:defRPr sz="800">
                <a:solidFill>
                  <a:srgbClr val="CDD6F4"/>
                </a:solidFill>
                <a:latin typeface="Courier New"/>
              </a:defRPr>
            </a:pPr>
            <a:r>
              <a:t xml:space="preserve">    merged, seen_hashes = {}, {}</a:t>
            </a:r>
          </a:p>
          <a:p>
            <a:pPr>
              <a:lnSpc>
                <a:spcPts val="1100"/>
              </a:lnSpc>
              <a:spcBef>
                <a:spcPts val="0"/>
              </a:spcBef>
              <a:spcAft>
                <a:spcPts val="0"/>
              </a:spcAft>
              <a:defRPr sz="800">
                <a:solidFill>
                  <a:srgbClr val="CDD6F4"/>
                </a:solidFill>
                <a:latin typeface="Courier New"/>
              </a:defRPr>
            </a:pPr>
            <a:r>
              <a:t xml:space="preserve">    for section in sections:</a:t>
            </a:r>
          </a:p>
          <a:p>
            <a:pPr>
              <a:lnSpc>
                <a:spcPts val="1100"/>
              </a:lnSpc>
              <a:spcBef>
                <a:spcPts val="0"/>
              </a:spcBef>
              <a:spcAft>
                <a:spcPts val="0"/>
              </a:spcAft>
              <a:defRPr sz="800">
                <a:solidFill>
                  <a:srgbClr val="CDD6F4"/>
                </a:solidFill>
                <a:latin typeface="Courier New"/>
              </a:defRPr>
            </a:pPr>
            <a:r>
              <a:t xml:space="preserve">        key = (section.item_number, section.part)</a:t>
            </a:r>
          </a:p>
          <a:p>
            <a:pPr>
              <a:lnSpc>
                <a:spcPts val="1100"/>
              </a:lnSpc>
              <a:spcBef>
                <a:spcPts val="0"/>
              </a:spcBef>
              <a:spcAft>
                <a:spcPts val="0"/>
              </a:spcAft>
              <a:defRPr sz="800">
                <a:solidFill>
                  <a:srgbClr val="CDD6F4"/>
                </a:solidFill>
                <a:latin typeface="Courier New"/>
              </a:defRPr>
            </a:pPr>
            <a:r>
              <a:t xml:space="preserve">        if key in merged:</a:t>
            </a:r>
          </a:p>
          <a:p>
            <a:pPr>
              <a:lnSpc>
                <a:spcPts val="1100"/>
              </a:lnSpc>
              <a:spcBef>
                <a:spcPts val="0"/>
              </a:spcBef>
              <a:spcAft>
                <a:spcPts val="0"/>
              </a:spcAft>
              <a:defRPr sz="800">
                <a:solidFill>
                  <a:srgbClr val="CDD6F4"/>
                </a:solidFill>
                <a:latin typeface="Courier New"/>
              </a:defRPr>
            </a:pPr>
            <a:r>
              <a:t xml:space="preserve">            if section.content_hash in seen_hashes[key]:</a:t>
            </a:r>
          </a:p>
          <a:p>
            <a:pPr>
              <a:lnSpc>
                <a:spcPts val="1100"/>
              </a:lnSpc>
              <a:spcBef>
                <a:spcPts val="0"/>
              </a:spcBef>
              <a:spcAft>
                <a:spcPts val="0"/>
              </a:spcAft>
              <a:defRPr sz="800">
                <a:solidFill>
                  <a:srgbClr val="CDD6F4"/>
                </a:solidFill>
                <a:latin typeface="Courier New"/>
              </a:defRPr>
            </a:pPr>
            <a:r>
              <a:t xml:space="preserve">                continue  # Skip exact duplicates (SHA-256)</a:t>
            </a:r>
          </a:p>
          <a:p>
            <a:pPr>
              <a:lnSpc>
                <a:spcPts val="1100"/>
              </a:lnSpc>
              <a:spcBef>
                <a:spcPts val="0"/>
              </a:spcBef>
              <a:spcAft>
                <a:spcPts val="0"/>
              </a:spcAft>
              <a:defRPr sz="800">
                <a:solidFill>
                  <a:srgbClr val="CDD6F4"/>
                </a:solidFill>
                <a:latin typeface="Courier New"/>
              </a:defRPr>
            </a:pPr>
            <a:r>
              <a:t xml:space="preserve">            merged[key].text += "\n\n" + section.text</a:t>
            </a:r>
          </a:p>
          <a:p>
            <a:pPr>
              <a:lnSpc>
                <a:spcPts val="1100"/>
              </a:lnSpc>
              <a:spcBef>
                <a:spcPts val="0"/>
              </a:spcBef>
              <a:spcAft>
                <a:spcPts val="0"/>
              </a:spcAft>
              <a:defRPr sz="800">
                <a:solidFill>
                  <a:srgbClr val="CDD6F4"/>
                </a:solidFill>
                <a:latin typeface="Courier New"/>
              </a:defRPr>
            </a:pPr>
            <a:r>
              <a:t xml:space="preserve">            seen_hashes[key].add(section.content_hash)</a:t>
            </a:r>
          </a:p>
          <a:p>
            <a:pPr>
              <a:lnSpc>
                <a:spcPts val="1100"/>
              </a:lnSpc>
              <a:spcBef>
                <a:spcPts val="0"/>
              </a:spcBef>
              <a:spcAft>
                <a:spcPts val="0"/>
              </a:spcAft>
              <a:defRPr sz="800">
                <a:solidFill>
                  <a:srgbClr val="CDD6F4"/>
                </a:solidFill>
                <a:latin typeface="Courier New"/>
              </a:defRPr>
            </a:pPr>
            <a:r>
              <a:t xml:space="preserve">        else:</a:t>
            </a:r>
          </a:p>
          <a:p>
            <a:pPr>
              <a:lnSpc>
                <a:spcPts val="1100"/>
              </a:lnSpc>
              <a:spcBef>
                <a:spcPts val="0"/>
              </a:spcBef>
              <a:spcAft>
                <a:spcPts val="0"/>
              </a:spcAft>
              <a:defRPr sz="800">
                <a:solidFill>
                  <a:srgbClr val="CDD6F4"/>
                </a:solidFill>
                <a:latin typeface="Courier New"/>
              </a:defRPr>
            </a:pPr>
            <a:r>
              <a:t xml:space="preserve">            merged[key] = section</a:t>
            </a:r>
          </a:p>
          <a:p>
            <a:pPr>
              <a:lnSpc>
                <a:spcPts val="1100"/>
              </a:lnSpc>
              <a:spcBef>
                <a:spcPts val="0"/>
              </a:spcBef>
              <a:spcAft>
                <a:spcPts val="0"/>
              </a:spcAft>
              <a:defRPr sz="800">
                <a:solidFill>
                  <a:srgbClr val="CDD6F4"/>
                </a:solidFill>
                <a:latin typeface="Courier New"/>
              </a:defRPr>
            </a:pPr>
            <a:r>
              <a:t xml:space="preserve">            seen_hashes[key] = {section.content_hash}</a:t>
            </a:r>
          </a:p>
          <a:p>
            <a:pPr>
              <a:lnSpc>
                <a:spcPts val="1100"/>
              </a:lnSpc>
              <a:spcBef>
                <a:spcPts val="0"/>
              </a:spcBef>
              <a:spcAft>
                <a:spcPts val="0"/>
              </a:spcAft>
              <a:defRPr sz="800">
                <a:solidFill>
                  <a:srgbClr val="CDD6F4"/>
                </a:solidFill>
                <a:latin typeface="Courier New"/>
              </a:defRPr>
            </a:pPr>
            <a:r>
              <a:t xml:space="preserve">    return list(merged.values())</a:t>
            </a:r>
          </a:p>
          <a:p>
            <a:pPr>
              <a:lnSpc>
                <a:spcPts val="1100"/>
              </a:lnSpc>
              <a:spcBef>
                <a:spcPts val="0"/>
              </a:spcBef>
              <a:spcAft>
                <a:spcPts val="0"/>
              </a:spcAft>
              <a:defRPr sz="800">
                <a:solidFill>
                  <a:srgbClr val="6C7086"/>
                </a:solidFill>
                <a:latin typeface="Courier New"/>
              </a:defRPr>
            </a:pPr>
            <a:r>
              <a:t xml:space="preserve">    # 6,038 raw -&gt; 3,001 merged. Content retained: 100.0%</a:t>
            </a:r>
          </a:p>
        </p:txBody>
      </p:sp>
      <p:sp>
        <p:nvSpPr>
          <p:cNvPr id="7" name="TextBox 6"/>
          <p:cNvSpPr txBox="1"/>
          <p:nvPr/>
        </p:nvSpPr>
        <p:spPr>
          <a:xfrm>
            <a:off x="182880" y="3749040"/>
            <a:ext cx="8778240" cy="1280160"/>
          </a:xfrm>
          <a:prstGeom prst="rect">
            <a:avLst/>
          </a:prstGeom>
          <a:noFill/>
        </p:spPr>
        <p:txBody>
          <a:bodyPr wrap="square">
            <a:spAutoFit/>
          </a:bodyPr>
          <a:lstStyle/>
          <a:p>
            <a:pPr>
              <a:spcBef>
                <a:spcPts val="400"/>
              </a:spcBef>
              <a:spcAft>
                <a:spcPts val="100"/>
              </a:spcAft>
              <a:defRPr sz="1000" b="1">
                <a:solidFill>
                  <a:srgbClr val="1A1A1A"/>
                </a:solidFill>
              </a:defRPr>
            </a:pPr>
            <a:r>
              <a:t>What this solves</a:t>
            </a:r>
          </a:p>
          <a:p>
            <a:pPr>
              <a:spcAft>
                <a:spcPts val="100"/>
              </a:spcAft>
              <a:defRPr sz="900">
                <a:solidFill>
                  <a:srgbClr val="444444"/>
                </a:solidFill>
              </a:defRPr>
            </a:pPr>
            <a:r>
              <a:t>The section parser splits real sections into fragments when it encounters inline references like "see Item 1A" in body text. Without deduplication, MSFT's 15 real sections become 127 fragments  -  destroying retrieval precision.</a:t>
            </a:r>
          </a:p>
          <a:p>
            <a:pPr>
              <a:spcBef>
                <a:spcPts val="400"/>
              </a:spcBef>
              <a:spcAft>
                <a:spcPts val="100"/>
              </a:spcAft>
              <a:defRPr sz="1000" b="1">
                <a:solidFill>
                  <a:srgbClr val="1A1A1A"/>
                </a:solidFill>
              </a:defRPr>
            </a:pPr>
            <a:r>
              <a:t>Key lesson</a:t>
            </a:r>
          </a:p>
          <a:p>
            <a:pPr>
              <a:spcAft>
                <a:spcPts val="100"/>
              </a:spcAft>
              <a:defRPr sz="900">
                <a:solidFill>
                  <a:srgbClr val="444444"/>
                </a:solidFill>
              </a:defRPr>
            </a:pPr>
            <a:r>
              <a:t>The "keep longest" approach (Iteration 2) passed every spot check  -  section names looked right, counts seemed reasonable. Only systematic verification  -  checking whether all 1,820 dropped sections' content existed in the kept version  -  revealed silent 30% data loss. In production, this degrades retrieval quality gradually and is nearly impossible to diagnose from user-facing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5486400" cy="329184"/>
          </a:xfrm>
          <a:prstGeom prst="rect">
            <a:avLst/>
          </a:prstGeom>
          <a:noFill/>
        </p:spPr>
        <p:txBody>
          <a:bodyPr wrap="none">
            <a:spAutoFit/>
          </a:bodyPr>
          <a:lstStyle/>
          <a:p>
            <a:pPr>
              <a:defRPr sz="1500" b="1">
                <a:solidFill>
                  <a:srgbClr val="FFFFFF"/>
                </a:solidFill>
              </a:defRPr>
            </a:pPr>
            <a:r>
              <a:t>MODEL COMPARISON</a:t>
            </a:r>
          </a:p>
        </p:txBody>
      </p:sp>
      <p:sp>
        <p:nvSpPr>
          <p:cNvPr id="4" name="TextBox 3"/>
          <p:cNvSpPr txBox="1"/>
          <p:nvPr/>
        </p:nvSpPr>
        <p:spPr>
          <a:xfrm>
            <a:off x="5486400" y="9144"/>
            <a:ext cx="3429000" cy="329184"/>
          </a:xfrm>
          <a:prstGeom prst="rect">
            <a:avLst/>
          </a:prstGeom>
          <a:noFill/>
        </p:spPr>
        <p:txBody>
          <a:bodyPr wrap="none">
            <a:spAutoFit/>
          </a:bodyPr>
          <a:lstStyle/>
          <a:p>
            <a:pPr algn="r">
              <a:defRPr sz="1100">
                <a:solidFill>
                  <a:srgbClr val="888888"/>
                </a:solidFill>
              </a:defRPr>
            </a:pPr>
            <a:r>
              <a:t>Claude Sonnet 4.6 vs GPT-4o</a:t>
            </a:r>
          </a:p>
        </p:txBody>
      </p:sp>
      <p:sp>
        <p:nvSpPr>
          <p:cNvPr id="5" name="Rectangle 4"/>
          <p:cNvSpPr/>
          <p:nvPr/>
        </p:nvSpPr>
        <p:spPr>
          <a:xfrm>
            <a:off x="182880" y="502920"/>
            <a:ext cx="4251960" cy="28346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502920"/>
            <a:ext cx="54864" cy="283464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548640"/>
            <a:ext cx="3886200" cy="320040"/>
          </a:xfrm>
          <a:prstGeom prst="rect">
            <a:avLst/>
          </a:prstGeom>
          <a:noFill/>
        </p:spPr>
        <p:txBody>
          <a:bodyPr wrap="none">
            <a:spAutoFit/>
          </a:bodyPr>
          <a:lstStyle/>
          <a:p>
            <a:pPr>
              <a:defRPr sz="1400" b="1">
                <a:solidFill>
                  <a:srgbClr val="1A1A1A"/>
                </a:solidFill>
              </a:defRPr>
            </a:pPr>
            <a:r>
              <a:t>Claude Sonnet 4.6  (Recommended)</a:t>
            </a:r>
          </a:p>
        </p:txBody>
      </p:sp>
      <p:sp>
        <p:nvSpPr>
          <p:cNvPr id="8" name="TextBox 7"/>
          <p:cNvSpPr txBox="1"/>
          <p:nvPr/>
        </p:nvSpPr>
        <p:spPr>
          <a:xfrm>
            <a:off x="365760" y="914400"/>
            <a:ext cx="3886200" cy="320040"/>
          </a:xfrm>
          <a:prstGeom prst="rect">
            <a:avLst/>
          </a:prstGeom>
          <a:noFill/>
        </p:spPr>
        <p:txBody>
          <a:bodyPr wrap="square">
            <a:spAutoFit/>
          </a:bodyPr>
          <a:lstStyle/>
          <a:p>
            <a:pPr>
              <a:defRPr sz="900">
                <a:solidFill>
                  <a:srgbClr val="333333"/>
                </a:solidFill>
              </a:defRPr>
            </a:pPr>
            <a:r>
              <a:t>Avg latency:  34 seconds</a:t>
            </a:r>
          </a:p>
        </p:txBody>
      </p:sp>
      <p:sp>
        <p:nvSpPr>
          <p:cNvPr id="9" name="TextBox 8"/>
          <p:cNvSpPr txBox="1"/>
          <p:nvPr/>
        </p:nvSpPr>
        <p:spPr>
          <a:xfrm>
            <a:off x="365760" y="1234440"/>
            <a:ext cx="3886200" cy="320040"/>
          </a:xfrm>
          <a:prstGeom prst="rect">
            <a:avLst/>
          </a:prstGeom>
          <a:noFill/>
        </p:spPr>
        <p:txBody>
          <a:bodyPr wrap="square">
            <a:spAutoFit/>
          </a:bodyPr>
          <a:lstStyle/>
          <a:p>
            <a:pPr>
              <a:defRPr sz="900">
                <a:solidFill>
                  <a:srgbClr val="333333"/>
                </a:solidFill>
              </a:defRPr>
            </a:pPr>
            <a:r>
              <a:t>Avg output:  1,494 tokens</a:t>
            </a:r>
          </a:p>
        </p:txBody>
      </p:sp>
      <p:sp>
        <p:nvSpPr>
          <p:cNvPr id="10" name="TextBox 9"/>
          <p:cNvSpPr txBox="1"/>
          <p:nvPr/>
        </p:nvSpPr>
        <p:spPr>
          <a:xfrm>
            <a:off x="365760" y="1554480"/>
            <a:ext cx="3886200" cy="320040"/>
          </a:xfrm>
          <a:prstGeom prst="rect">
            <a:avLst/>
          </a:prstGeom>
          <a:noFill/>
        </p:spPr>
        <p:txBody>
          <a:bodyPr wrap="square">
            <a:spAutoFit/>
          </a:bodyPr>
          <a:lstStyle/>
          <a:p>
            <a:pPr>
              <a:defRPr sz="900">
                <a:solidFill>
                  <a:srgbClr val="333333"/>
                </a:solidFill>
              </a:defRPr>
            </a:pPr>
            <a:r>
              <a:t>Direct quotes:  Extensive  -  cites exact filing language</a:t>
            </a:r>
          </a:p>
        </p:txBody>
      </p:sp>
      <p:sp>
        <p:nvSpPr>
          <p:cNvPr id="11" name="TextBox 10"/>
          <p:cNvSpPr txBox="1"/>
          <p:nvPr/>
        </p:nvSpPr>
        <p:spPr>
          <a:xfrm>
            <a:off x="365760" y="1874520"/>
            <a:ext cx="3886200" cy="320040"/>
          </a:xfrm>
          <a:prstGeom prst="rect">
            <a:avLst/>
          </a:prstGeom>
          <a:noFill/>
        </p:spPr>
        <p:txBody>
          <a:bodyPr wrap="square">
            <a:spAutoFit/>
          </a:bodyPr>
          <a:lstStyle/>
          <a:p>
            <a:pPr>
              <a:defRPr sz="900">
                <a:solidFill>
                  <a:srgbClr val="333333"/>
                </a:solidFill>
              </a:defRPr>
            </a:pPr>
            <a:r>
              <a:t>Comparison tables:  Auto-generated for multi-company queries</a:t>
            </a:r>
          </a:p>
        </p:txBody>
      </p:sp>
      <p:sp>
        <p:nvSpPr>
          <p:cNvPr id="12" name="TextBox 11"/>
          <p:cNvSpPr txBox="1"/>
          <p:nvPr/>
        </p:nvSpPr>
        <p:spPr>
          <a:xfrm>
            <a:off x="365760" y="2194560"/>
            <a:ext cx="3886200" cy="320040"/>
          </a:xfrm>
          <a:prstGeom prst="rect">
            <a:avLst/>
          </a:prstGeom>
          <a:noFill/>
        </p:spPr>
        <p:txBody>
          <a:bodyPr wrap="square">
            <a:spAutoFit/>
          </a:bodyPr>
          <a:lstStyle/>
          <a:p>
            <a:pPr>
              <a:defRPr sz="900">
                <a:solidFill>
                  <a:srgbClr val="333333"/>
                </a:solidFill>
              </a:defRPr>
            </a:pPr>
            <a:r>
              <a:t>Specificity:  Names drugs: Keytruda, Eliquis, Januvia</a:t>
            </a:r>
          </a:p>
        </p:txBody>
      </p:sp>
      <p:sp>
        <p:nvSpPr>
          <p:cNvPr id="13" name="TextBox 12"/>
          <p:cNvSpPr txBox="1"/>
          <p:nvPr/>
        </p:nvSpPr>
        <p:spPr>
          <a:xfrm>
            <a:off x="365760" y="2514600"/>
            <a:ext cx="3886200" cy="320040"/>
          </a:xfrm>
          <a:prstGeom prst="rect">
            <a:avLst/>
          </a:prstGeom>
          <a:noFill/>
        </p:spPr>
        <p:txBody>
          <a:bodyPr wrap="square">
            <a:spAutoFit/>
          </a:bodyPr>
          <a:lstStyle/>
          <a:p>
            <a:pPr>
              <a:defRPr sz="900">
                <a:solidFill>
                  <a:srgbClr val="333333"/>
                </a:solidFill>
              </a:defRPr>
            </a:pPr>
            <a:r>
              <a:t>Temporal depth:  NVIDIA: FY2022 through FY2026 coverage</a:t>
            </a:r>
          </a:p>
        </p:txBody>
      </p:sp>
      <p:sp>
        <p:nvSpPr>
          <p:cNvPr id="14" name="TextBox 13"/>
          <p:cNvSpPr txBox="1"/>
          <p:nvPr/>
        </p:nvSpPr>
        <p:spPr>
          <a:xfrm>
            <a:off x="365760" y="2834640"/>
            <a:ext cx="3886200" cy="320040"/>
          </a:xfrm>
          <a:prstGeom prst="rect">
            <a:avLst/>
          </a:prstGeom>
          <a:noFill/>
        </p:spPr>
        <p:txBody>
          <a:bodyPr wrap="square">
            <a:spAutoFit/>
          </a:bodyPr>
          <a:lstStyle/>
          <a:p>
            <a:pPr>
              <a:defRPr sz="900">
                <a:solidFill>
                  <a:srgbClr val="333333"/>
                </a:solidFill>
              </a:defRPr>
            </a:pPr>
            <a:r>
              <a:t>Rate limits:  Token bucket  -  large prompts succeed</a:t>
            </a:r>
          </a:p>
        </p:txBody>
      </p:sp>
      <p:sp>
        <p:nvSpPr>
          <p:cNvPr id="15" name="Rectangle 14"/>
          <p:cNvSpPr/>
          <p:nvPr/>
        </p:nvSpPr>
        <p:spPr>
          <a:xfrm>
            <a:off x="4709160" y="502920"/>
            <a:ext cx="4251960" cy="2834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09160" y="502920"/>
            <a:ext cx="54864" cy="283464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548640"/>
            <a:ext cx="3886200" cy="320040"/>
          </a:xfrm>
          <a:prstGeom prst="rect">
            <a:avLst/>
          </a:prstGeom>
          <a:noFill/>
        </p:spPr>
        <p:txBody>
          <a:bodyPr wrap="none">
            <a:spAutoFit/>
          </a:bodyPr>
          <a:lstStyle/>
          <a:p>
            <a:pPr>
              <a:defRPr sz="1400" b="1">
                <a:solidFill>
                  <a:srgbClr val="1A1A1A"/>
                </a:solidFill>
              </a:defRPr>
            </a:pPr>
            <a:r>
              <a:t>GPT-4o</a:t>
            </a:r>
          </a:p>
        </p:txBody>
      </p:sp>
      <p:sp>
        <p:nvSpPr>
          <p:cNvPr id="18" name="TextBox 17"/>
          <p:cNvSpPr txBox="1"/>
          <p:nvPr/>
        </p:nvSpPr>
        <p:spPr>
          <a:xfrm>
            <a:off x="4892040" y="914400"/>
            <a:ext cx="3886200" cy="320040"/>
          </a:xfrm>
          <a:prstGeom prst="rect">
            <a:avLst/>
          </a:prstGeom>
          <a:noFill/>
        </p:spPr>
        <p:txBody>
          <a:bodyPr wrap="square">
            <a:spAutoFit/>
          </a:bodyPr>
          <a:lstStyle/>
          <a:p>
            <a:pPr>
              <a:defRPr sz="900">
                <a:solidFill>
                  <a:srgbClr val="333333"/>
                </a:solidFill>
              </a:defRPr>
            </a:pPr>
            <a:r>
              <a:t>Avg latency:  9 seconds (3-4x faster)</a:t>
            </a:r>
          </a:p>
        </p:txBody>
      </p:sp>
      <p:sp>
        <p:nvSpPr>
          <p:cNvPr id="19" name="TextBox 18"/>
          <p:cNvSpPr txBox="1"/>
          <p:nvPr/>
        </p:nvSpPr>
        <p:spPr>
          <a:xfrm>
            <a:off x="4892040" y="1234440"/>
            <a:ext cx="3886200" cy="320040"/>
          </a:xfrm>
          <a:prstGeom prst="rect">
            <a:avLst/>
          </a:prstGeom>
          <a:noFill/>
        </p:spPr>
        <p:txBody>
          <a:bodyPr wrap="square">
            <a:spAutoFit/>
          </a:bodyPr>
          <a:lstStyle/>
          <a:p>
            <a:pPr>
              <a:defRPr sz="900">
                <a:solidFill>
                  <a:srgbClr val="333333"/>
                </a:solidFill>
              </a:defRPr>
            </a:pPr>
            <a:r>
              <a:t>Avg output:  760 tokens</a:t>
            </a:r>
          </a:p>
        </p:txBody>
      </p:sp>
      <p:sp>
        <p:nvSpPr>
          <p:cNvPr id="20" name="TextBox 19"/>
          <p:cNvSpPr txBox="1"/>
          <p:nvPr/>
        </p:nvSpPr>
        <p:spPr>
          <a:xfrm>
            <a:off x="4892040" y="1554480"/>
            <a:ext cx="3886200" cy="320040"/>
          </a:xfrm>
          <a:prstGeom prst="rect">
            <a:avLst/>
          </a:prstGeom>
          <a:noFill/>
        </p:spPr>
        <p:txBody>
          <a:bodyPr wrap="square">
            <a:spAutoFit/>
          </a:bodyPr>
          <a:lstStyle/>
          <a:p>
            <a:pPr>
              <a:defRPr sz="900">
                <a:solidFill>
                  <a:srgbClr val="333333"/>
                </a:solidFill>
              </a:defRPr>
            </a:pPr>
            <a:r>
              <a:t>Direct quotes:  Rare  -  summarizes instead of quoting</a:t>
            </a:r>
          </a:p>
        </p:txBody>
      </p:sp>
      <p:sp>
        <p:nvSpPr>
          <p:cNvPr id="21" name="TextBox 20"/>
          <p:cNvSpPr txBox="1"/>
          <p:nvPr/>
        </p:nvSpPr>
        <p:spPr>
          <a:xfrm>
            <a:off x="4892040" y="1874520"/>
            <a:ext cx="3886200" cy="320040"/>
          </a:xfrm>
          <a:prstGeom prst="rect">
            <a:avLst/>
          </a:prstGeom>
          <a:noFill/>
        </p:spPr>
        <p:txBody>
          <a:bodyPr wrap="square">
            <a:spAutoFit/>
          </a:bodyPr>
          <a:lstStyle/>
          <a:p>
            <a:pPr>
              <a:defRPr sz="900">
                <a:solidFill>
                  <a:srgbClr val="333333"/>
                </a:solidFill>
              </a:defRPr>
            </a:pPr>
            <a:r>
              <a:t>Comparison tables:  Not generated</a:t>
            </a:r>
          </a:p>
        </p:txBody>
      </p:sp>
      <p:sp>
        <p:nvSpPr>
          <p:cNvPr id="22" name="TextBox 21"/>
          <p:cNvSpPr txBox="1"/>
          <p:nvPr/>
        </p:nvSpPr>
        <p:spPr>
          <a:xfrm>
            <a:off x="4892040" y="2194560"/>
            <a:ext cx="3886200" cy="320040"/>
          </a:xfrm>
          <a:prstGeom prst="rect">
            <a:avLst/>
          </a:prstGeom>
          <a:noFill/>
        </p:spPr>
        <p:txBody>
          <a:bodyPr wrap="square">
            <a:spAutoFit/>
          </a:bodyPr>
          <a:lstStyle/>
          <a:p>
            <a:pPr>
              <a:defRPr sz="900">
                <a:solidFill>
                  <a:srgbClr val="333333"/>
                </a:solidFill>
              </a:defRPr>
            </a:pPr>
            <a:r>
              <a:t>Specificity:  Generic references, no drug/product names</a:t>
            </a:r>
          </a:p>
        </p:txBody>
      </p:sp>
      <p:sp>
        <p:nvSpPr>
          <p:cNvPr id="23" name="TextBox 22"/>
          <p:cNvSpPr txBox="1"/>
          <p:nvPr/>
        </p:nvSpPr>
        <p:spPr>
          <a:xfrm>
            <a:off x="4892040" y="2514600"/>
            <a:ext cx="3886200" cy="320040"/>
          </a:xfrm>
          <a:prstGeom prst="rect">
            <a:avLst/>
          </a:prstGeom>
          <a:noFill/>
        </p:spPr>
        <p:txBody>
          <a:bodyPr wrap="square">
            <a:spAutoFit/>
          </a:bodyPr>
          <a:lstStyle/>
          <a:p>
            <a:pPr>
              <a:defRPr sz="900">
                <a:solidFill>
                  <a:srgbClr val="333333"/>
                </a:solidFill>
              </a:defRPr>
            </a:pPr>
            <a:r>
              <a:t>Temporal depth:  NVIDIA: only FY2024 + Q1 FY2025</a:t>
            </a:r>
          </a:p>
        </p:txBody>
      </p:sp>
      <p:sp>
        <p:nvSpPr>
          <p:cNvPr id="24" name="TextBox 23"/>
          <p:cNvSpPr txBox="1"/>
          <p:nvPr/>
        </p:nvSpPr>
        <p:spPr>
          <a:xfrm>
            <a:off x="4892040" y="2834640"/>
            <a:ext cx="3886200" cy="320040"/>
          </a:xfrm>
          <a:prstGeom prst="rect">
            <a:avLst/>
          </a:prstGeom>
          <a:noFill/>
        </p:spPr>
        <p:txBody>
          <a:bodyPr wrap="square">
            <a:spAutoFit/>
          </a:bodyPr>
          <a:lstStyle/>
          <a:p>
            <a:pPr>
              <a:defRPr sz="900">
                <a:solidFill>
                  <a:srgbClr val="333333"/>
                </a:solidFill>
              </a:defRPr>
            </a:pPr>
            <a:r>
              <a:t>Rate limits:  Per-request cap  -  18-chunk prompts rejected</a:t>
            </a:r>
          </a:p>
        </p:txBody>
      </p:sp>
      <p:sp>
        <p:nvSpPr>
          <p:cNvPr id="25" name="TextBox 24"/>
          <p:cNvSpPr txBox="1"/>
          <p:nvPr/>
        </p:nvSpPr>
        <p:spPr>
          <a:xfrm>
            <a:off x="182880" y="3474720"/>
            <a:ext cx="4000000" cy="274320"/>
          </a:xfrm>
          <a:prstGeom prst="rect">
            <a:avLst/>
          </a:prstGeom>
          <a:noFill/>
        </p:spPr>
        <p:txBody>
          <a:bodyPr wrap="none">
            <a:spAutoFit/>
          </a:bodyPr>
          <a:lstStyle/>
          <a:p>
            <a:pPr>
              <a:defRPr sz="1100" b="1">
                <a:solidFill>
                  <a:srgbClr val="1A1A1A"/>
                </a:solidFill>
              </a:defRPr>
            </a:pPr>
            <a:r>
              <a:t>Test Results (3 assessment questions)</a:t>
            </a:r>
          </a:p>
        </p:txBody>
      </p:sp>
      <p:graphicFrame>
        <p:nvGraphicFramePr>
          <p:cNvPr id="26" name="Table 25"/>
          <p:cNvGraphicFramePr>
            <a:graphicFrameLocks noGrp="1"/>
          </p:cNvGraphicFramePr>
          <p:nvPr/>
        </p:nvGraphicFramePr>
        <p:xfrm>
          <a:off x="182880" y="3749040"/>
          <a:ext cx="8778240" cy="1005840"/>
        </p:xfrm>
        <a:graphic>
          <a:graphicData uri="http://schemas.openxmlformats.org/drawingml/2006/table">
            <a:tbl>
              <a:tblPr firstRow="1" bandRow="1">
                <a:tableStyleId>{5C22544A-7EE6-4342-B048-85BDC9FD1C3A}</a:tableStyleId>
              </a:tblPr>
              <a:tblGrid>
                <a:gridCol w="4114800"/>
                <a:gridCol w="2331720"/>
                <a:gridCol w="2331720"/>
              </a:tblGrid>
              <a:tr h="251460">
                <a:tc>
                  <a:txBody>
                    <a:bodyPr/>
                    <a:lstStyle/>
                    <a:p>
                      <a:pPr>
                        <a:defRPr sz="900" b="1">
                          <a:solidFill>
                            <a:srgbClr val="FFFFFF"/>
                          </a:solidFill>
                        </a:defRPr>
                      </a:pPr>
                      <a:r>
                        <a:t>Query</a:t>
                      </a:r>
                    </a:p>
                  </a:txBody>
                  <a:tcPr>
                    <a:solidFill>
                      <a:srgbClr val="1A1A1A"/>
                    </a:solidFill>
                  </a:tcPr>
                </a:tc>
                <a:tc>
                  <a:txBody>
                    <a:bodyPr/>
                    <a:lstStyle/>
                    <a:p>
                      <a:pPr>
                        <a:defRPr sz="900" b="1">
                          <a:solidFill>
                            <a:srgbClr val="FFFFFF"/>
                          </a:solidFill>
                        </a:defRPr>
                      </a:pPr>
                      <a:r>
                        <a:t>Claude Sonnet 4.6</a:t>
                      </a:r>
                    </a:p>
                  </a:txBody>
                  <a:tcPr>
                    <a:solidFill>
                      <a:srgbClr val="1A1A1A"/>
                    </a:solidFill>
                  </a:tcPr>
                </a:tc>
                <a:tc>
                  <a:txBody>
                    <a:bodyPr/>
                    <a:lstStyle/>
                    <a:p>
                      <a:pPr>
                        <a:defRPr sz="900" b="1">
                          <a:solidFill>
                            <a:srgbClr val="FFFFFF"/>
                          </a:solidFill>
                        </a:defRPr>
                      </a:pPr>
                      <a:r>
                        <a:t>GPT-4o</a:t>
                      </a:r>
                    </a:p>
                  </a:txBody>
                  <a:tcPr>
                    <a:solidFill>
                      <a:srgbClr val="1A1A1A"/>
                    </a:solidFill>
                  </a:tcPr>
                </a:tc>
              </a:tr>
              <a:tr h="251460">
                <a:tc>
                  <a:txBody>
                    <a:bodyPr/>
                    <a:lstStyle/>
                    <a:p>
                      <a:pPr>
                        <a:defRPr sz="900">
                          <a:solidFill>
                            <a:srgbClr val="333333"/>
                          </a:solidFill>
                        </a:defRPr>
                      </a:pPr>
                      <a:r>
                        <a:t>Risk factors: Apple, Tesla, JPMorgan</a:t>
                      </a:r>
                    </a:p>
                  </a:txBody>
                  <a:tcPr/>
                </a:tc>
                <a:tc>
                  <a:txBody>
                    <a:bodyPr/>
                    <a:lstStyle/>
                    <a:p>
                      <a:pPr>
                        <a:defRPr sz="900">
                          <a:solidFill>
                            <a:srgbClr val="333333"/>
                          </a:solidFill>
                        </a:defRPr>
                      </a:pPr>
                      <a:r>
                        <a:t>1,687 tok  /  37s</a:t>
                      </a:r>
                    </a:p>
                  </a:txBody>
                  <a:tcPr/>
                </a:tc>
                <a:tc>
                  <a:txBody>
                    <a:bodyPr/>
                    <a:lstStyle/>
                    <a:p>
                      <a:pPr>
                        <a:defRPr sz="900">
                          <a:solidFill>
                            <a:srgbClr val="333333"/>
                          </a:solidFill>
                        </a:defRPr>
                      </a:pPr>
                      <a:r>
                        <a:t>783 tok  /  9s</a:t>
                      </a:r>
                    </a:p>
                  </a:txBody>
                  <a:tcPr/>
                </a:tc>
              </a:tr>
              <a:tr h="251460">
                <a:tc>
                  <a:txBody>
                    <a:bodyPr/>
                    <a:lstStyle/>
                    <a:p>
                      <a:pPr>
                        <a:defRPr sz="900">
                          <a:solidFill>
                            <a:srgbClr val="333333"/>
                          </a:solidFill>
                        </a:defRPr>
                      </a:pPr>
                      <a:r>
                        <a:t>NVIDIA revenue &amp; growth outlook</a:t>
                      </a:r>
                    </a:p>
                  </a:txBody>
                  <a:tcPr/>
                </a:tc>
                <a:tc>
                  <a:txBody>
                    <a:bodyPr/>
                    <a:lstStyle/>
                    <a:p>
                      <a:pPr>
                        <a:defRPr sz="900">
                          <a:solidFill>
                            <a:srgbClr val="333333"/>
                          </a:solidFill>
                        </a:defRPr>
                      </a:pPr>
                      <a:r>
                        <a:t>1,175 tok  /  25s</a:t>
                      </a:r>
                    </a:p>
                  </a:txBody>
                  <a:tcPr/>
                </a:tc>
                <a:tc>
                  <a:txBody>
                    <a:bodyPr/>
                    <a:lstStyle/>
                    <a:p>
                      <a:pPr>
                        <a:defRPr sz="900">
                          <a:solidFill>
                            <a:srgbClr val="333333"/>
                          </a:solidFill>
                        </a:defRPr>
                      </a:pPr>
                      <a:r>
                        <a:t>677 tok  /  9s</a:t>
                      </a:r>
                    </a:p>
                  </a:txBody>
                  <a:tcPr/>
                </a:tc>
              </a:tr>
              <a:tr h="251460">
                <a:tc>
                  <a:txBody>
                    <a:bodyPr/>
                    <a:lstStyle/>
                    <a:p>
                      <a:pPr>
                        <a:defRPr sz="900">
                          <a:solidFill>
                            <a:srgbClr val="333333"/>
                          </a:solidFill>
                        </a:defRPr>
                      </a:pPr>
                      <a:r>
                        <a:t>Pharma regulatory risks</a:t>
                      </a:r>
                    </a:p>
                  </a:txBody>
                  <a:tcPr/>
                </a:tc>
                <a:tc>
                  <a:txBody>
                    <a:bodyPr/>
                    <a:lstStyle/>
                    <a:p>
                      <a:pPr>
                        <a:defRPr sz="900">
                          <a:solidFill>
                            <a:srgbClr val="333333"/>
                          </a:solidFill>
                        </a:defRPr>
                      </a:pPr>
                      <a:r>
                        <a:t>1,621 tok  /  39s</a:t>
                      </a:r>
                    </a:p>
                  </a:txBody>
                  <a:tcPr/>
                </a:tc>
                <a:tc>
                  <a:txBody>
                    <a:bodyPr/>
                    <a:lstStyle/>
                    <a:p>
                      <a:pPr>
                        <a:defRPr sz="900">
                          <a:solidFill>
                            <a:srgbClr val="333333"/>
                          </a:solidFill>
                        </a:defRPr>
                      </a:pPr>
                      <a:r>
                        <a:t>819 tok  /  8s</a:t>
                      </a:r>
                    </a:p>
                  </a:txBody>
                  <a:tcPr/>
                </a:tc>
              </a:tr>
            </a:tbl>
          </a:graphicData>
        </a:graphic>
      </p:graphicFrame>
      <p:sp>
        <p:nvSpPr>
          <p:cNvPr id="27" name="TextBox 26"/>
          <p:cNvSpPr txBox="1"/>
          <p:nvPr/>
        </p:nvSpPr>
        <p:spPr>
          <a:xfrm>
            <a:off x="182880" y="4800600"/>
            <a:ext cx="8778240" cy="274320"/>
          </a:xfrm>
          <a:prstGeom prst="rect">
            <a:avLst/>
          </a:prstGeom>
          <a:noFill/>
        </p:spPr>
        <p:txBody>
          <a:bodyPr wrap="none">
            <a:spAutoFit/>
          </a:bodyPr>
          <a:lstStyle/>
          <a:p>
            <a:pPr>
              <a:defRPr sz="800">
                <a:solidFill>
                  <a:srgbClr val="666666"/>
                </a:solidFill>
              </a:defRPr>
            </a:pPr>
            <a:r>
              <a:t>Grounding accuracy: 33/34 claims verified against raw filing text (97% exact match, 0 hallucinations)  |  Full results in docs/prompt_tests/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800" b="1">
                <a:solidFill>
                  <a:srgbClr val="FFFFFF"/>
                </a:solidFill>
              </a:defRPr>
            </a:pPr>
            <a:r>
              <a:t>DESIGN DECISIONS</a:t>
            </a:r>
          </a:p>
        </p:txBody>
      </p:sp>
      <p:sp>
        <p:nvSpPr>
          <p:cNvPr id="4" name="TextBox 3"/>
          <p:cNvSpPr txBox="1"/>
          <p:nvPr/>
        </p:nvSpPr>
        <p:spPr>
          <a:xfrm>
            <a:off x="5486400" y="9144"/>
            <a:ext cx="3429000" cy="329184"/>
          </a:xfrm>
          <a:prstGeom prst="rect">
            <a:avLst/>
          </a:prstGeom>
          <a:noFill/>
        </p:spPr>
        <p:txBody>
          <a:bodyPr wrap="none">
            <a:spAutoFit/>
          </a:bodyPr>
          <a:lstStyle/>
          <a:p>
            <a:pPr algn="r">
              <a:defRPr sz="1100">
                <a:solidFill>
                  <a:srgbClr val="888888"/>
                </a:solidFill>
              </a:defRPr>
            </a:pPr>
            <a:r>
              <a:t>why I chose what I chose</a:t>
            </a:r>
          </a:p>
        </p:txBody>
      </p:sp>
      <p:sp>
        <p:nvSpPr>
          <p:cNvPr id="5" name="Rectangle 4"/>
          <p:cNvSpPr/>
          <p:nvPr/>
        </p:nvSpPr>
        <p:spPr>
          <a:xfrm>
            <a:off x="182880" y="457200"/>
            <a:ext cx="4343400" cy="137160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457200"/>
            <a:ext cx="54864" cy="137160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512064"/>
            <a:ext cx="4160520" cy="228600"/>
          </a:xfrm>
          <a:prstGeom prst="rect">
            <a:avLst/>
          </a:prstGeom>
          <a:noFill/>
        </p:spPr>
        <p:txBody>
          <a:bodyPr wrap="none">
            <a:spAutoFit/>
          </a:bodyPr>
          <a:lstStyle/>
          <a:p>
            <a:pPr>
              <a:defRPr sz="1400" b="1">
                <a:solidFill>
                  <a:srgbClr val="1A1A1A"/>
                </a:solidFill>
              </a:defRPr>
            </a:pPr>
            <a:r>
              <a:t>ChromaDB over pgvector / Pinecone</a:t>
            </a:r>
          </a:p>
        </p:txBody>
      </p:sp>
      <p:sp>
        <p:nvSpPr>
          <p:cNvPr id="8" name="TextBox 7"/>
          <p:cNvSpPr txBox="1"/>
          <p:nvPr/>
        </p:nvSpPr>
        <p:spPr>
          <a:xfrm>
            <a:off x="320040" y="749808"/>
            <a:ext cx="4160520" cy="1033272"/>
          </a:xfrm>
          <a:prstGeom prst="rect">
            <a:avLst/>
          </a:prstGeom>
          <a:noFill/>
        </p:spPr>
        <p:txBody>
          <a:bodyPr wrap="square">
            <a:spAutoFit/>
          </a:bodyPr>
          <a:lstStyle/>
          <a:p>
            <a:pPr>
              <a:spcAft>
                <a:spcPts val="100"/>
              </a:spcAft>
              <a:defRPr sz="1000">
                <a:solidFill>
                  <a:srgbClr val="444444"/>
                </a:solidFill>
              </a:defRPr>
            </a:pPr>
            <a:r>
              <a:t xml:space="preserve">  Zero infrastructure  -  no server, no API keys, persists to disk</a:t>
            </a:r>
          </a:p>
          <a:p>
            <a:pPr>
              <a:spcAft>
                <a:spcPts val="100"/>
              </a:spcAft>
              <a:defRPr sz="1000">
                <a:solidFill>
                  <a:srgbClr val="444444"/>
                </a:solidFill>
              </a:defRPr>
            </a:pPr>
            <a:r>
              <a:t xml:space="preserve">  Ships pre-built via Git LFS  -  reviewer runs one command</a:t>
            </a:r>
          </a:p>
          <a:p>
            <a:pPr>
              <a:spcAft>
                <a:spcPts val="100"/>
              </a:spcAft>
              <a:defRPr sz="1000">
                <a:solidFill>
                  <a:srgbClr val="444444"/>
                </a:solidFill>
              </a:defRPr>
            </a:pPr>
            <a:r>
              <a:t xml:space="preserve">  Metadata filtering built in  -  essential for filter-first retrieval</a:t>
            </a:r>
          </a:p>
          <a:p>
            <a:pPr>
              <a:spcAft>
                <a:spcPts val="100"/>
              </a:spcAft>
              <a:defRPr sz="1000">
                <a:solidFill>
                  <a:srgbClr val="444444"/>
                </a:solidFill>
              </a:defRPr>
            </a:pPr>
            <a:r>
              <a:t xml:space="preserve">  Production: migrate to pgvector in 1 day  -  pipeline unchanged</a:t>
            </a:r>
          </a:p>
        </p:txBody>
      </p:sp>
      <p:sp>
        <p:nvSpPr>
          <p:cNvPr id="9" name="Rectangle 8"/>
          <p:cNvSpPr/>
          <p:nvPr/>
        </p:nvSpPr>
        <p:spPr>
          <a:xfrm>
            <a:off x="4617720" y="457200"/>
            <a:ext cx="4343400" cy="137160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17720" y="457200"/>
            <a:ext cx="54864" cy="137160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512064"/>
            <a:ext cx="4160520" cy="228600"/>
          </a:xfrm>
          <a:prstGeom prst="rect">
            <a:avLst/>
          </a:prstGeom>
          <a:noFill/>
        </p:spPr>
        <p:txBody>
          <a:bodyPr wrap="none">
            <a:spAutoFit/>
          </a:bodyPr>
          <a:lstStyle/>
          <a:p>
            <a:pPr>
              <a:defRPr sz="1400" b="1">
                <a:solidFill>
                  <a:srgbClr val="1A1A1A"/>
                </a:solidFill>
              </a:defRPr>
            </a:pPr>
            <a:r>
              <a:t>text-embedding-3-small over -large</a:t>
            </a:r>
          </a:p>
        </p:txBody>
      </p:sp>
      <p:sp>
        <p:nvSpPr>
          <p:cNvPr id="12" name="TextBox 11"/>
          <p:cNvSpPr txBox="1"/>
          <p:nvPr/>
        </p:nvSpPr>
        <p:spPr>
          <a:xfrm>
            <a:off x="4754880" y="749808"/>
            <a:ext cx="4160520" cy="1033272"/>
          </a:xfrm>
          <a:prstGeom prst="rect">
            <a:avLst/>
          </a:prstGeom>
          <a:noFill/>
        </p:spPr>
        <p:txBody>
          <a:bodyPr wrap="square">
            <a:spAutoFit/>
          </a:bodyPr>
          <a:lstStyle/>
          <a:p>
            <a:pPr>
              <a:spcAft>
                <a:spcPts val="100"/>
              </a:spcAft>
              <a:defRPr sz="1000">
                <a:solidFill>
                  <a:srgbClr val="444444"/>
                </a:solidFill>
              </a:defRPr>
            </a:pPr>
            <a:r>
              <a:t xml:space="preserve">  Best cost/performance: $0.34 total corpus ($0.02/1M tokens)</a:t>
            </a:r>
          </a:p>
          <a:p>
            <a:pPr>
              <a:spcAft>
                <a:spcPts val="100"/>
              </a:spcAft>
              <a:defRPr sz="1000">
                <a:solidFill>
                  <a:srgbClr val="444444"/>
                </a:solidFill>
              </a:defRPr>
            </a:pPr>
            <a:r>
              <a:t xml:space="preserve">  1,536 dims  -  97% grounding accuracy on test queries</a:t>
            </a:r>
          </a:p>
          <a:p>
            <a:pPr>
              <a:spcAft>
                <a:spcPts val="100"/>
              </a:spcAft>
              <a:defRPr sz="1000">
                <a:solidFill>
                  <a:srgbClr val="444444"/>
                </a:solidFill>
              </a:defRPr>
            </a:pPr>
            <a:r>
              <a:t xml:space="preserve">  6x cheaper than -large, marginal recall difference</a:t>
            </a:r>
          </a:p>
          <a:p>
            <a:pPr>
              <a:spcAft>
                <a:spcPts val="100"/>
              </a:spcAft>
              <a:defRPr sz="1000">
                <a:solidFill>
                  <a:srgbClr val="444444"/>
                </a:solidFill>
              </a:defRPr>
            </a:pPr>
            <a:r>
              <a:t xml:space="preserve">  Upgrade path via env var  -  no code change required</a:t>
            </a:r>
          </a:p>
        </p:txBody>
      </p:sp>
      <p:sp>
        <p:nvSpPr>
          <p:cNvPr id="13" name="Rectangle 12"/>
          <p:cNvSpPr/>
          <p:nvPr/>
        </p:nvSpPr>
        <p:spPr>
          <a:xfrm>
            <a:off x="182880" y="2160270"/>
            <a:ext cx="4343400" cy="137160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 y="2160270"/>
            <a:ext cx="54864" cy="13716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215134"/>
            <a:ext cx="4160520" cy="228600"/>
          </a:xfrm>
          <a:prstGeom prst="rect">
            <a:avLst/>
          </a:prstGeom>
          <a:noFill/>
        </p:spPr>
        <p:txBody>
          <a:bodyPr wrap="none">
            <a:spAutoFit/>
          </a:bodyPr>
          <a:lstStyle/>
          <a:p>
            <a:pPr>
              <a:defRPr sz="1400" b="1">
                <a:solidFill>
                  <a:srgbClr val="1A1A1A"/>
                </a:solidFill>
              </a:defRPr>
            </a:pPr>
            <a:r>
              <a:t>1,500 token chunks / 200 overlap</a:t>
            </a:r>
          </a:p>
        </p:txBody>
      </p:sp>
      <p:sp>
        <p:nvSpPr>
          <p:cNvPr id="16" name="TextBox 15"/>
          <p:cNvSpPr txBox="1"/>
          <p:nvPr/>
        </p:nvSpPr>
        <p:spPr>
          <a:xfrm>
            <a:off x="320040" y="2452878"/>
            <a:ext cx="4160520" cy="1033272"/>
          </a:xfrm>
          <a:prstGeom prst="rect">
            <a:avLst/>
          </a:prstGeom>
          <a:noFill/>
        </p:spPr>
        <p:txBody>
          <a:bodyPr wrap="square">
            <a:spAutoFit/>
          </a:bodyPr>
          <a:lstStyle/>
          <a:p>
            <a:pPr>
              <a:spcAft>
                <a:spcPts val="100"/>
              </a:spcAft>
              <a:defRPr sz="1000">
                <a:solidFill>
                  <a:srgbClr val="444444"/>
                </a:solidFill>
              </a:defRPr>
            </a:pPr>
            <a:r>
              <a:t xml:space="preserve">  Token-based not character-based  -  financial text tokenizes differently</a:t>
            </a:r>
          </a:p>
          <a:p>
            <a:pPr>
              <a:spcAft>
                <a:spcPts val="100"/>
              </a:spcAft>
              <a:defRPr sz="1000">
                <a:solidFill>
                  <a:srgbClr val="444444"/>
                </a:solidFill>
              </a:defRPr>
            </a:pPr>
            <a:r>
              <a:t xml:space="preserve">  Section-aware: chunks never span two sections</a:t>
            </a:r>
          </a:p>
          <a:p>
            <a:pPr>
              <a:spcAft>
                <a:spcPts val="100"/>
              </a:spcAft>
              <a:defRPr sz="1000">
                <a:solidFill>
                  <a:srgbClr val="444444"/>
                </a:solidFill>
              </a:defRPr>
            </a:pPr>
            <a:r>
              <a:t xml:space="preserve">  Sentence boundary detection  -  avoids mid-sentence breaks</a:t>
            </a:r>
          </a:p>
          <a:p>
            <a:pPr>
              <a:spcAft>
                <a:spcPts val="100"/>
              </a:spcAft>
              <a:defRPr sz="1000">
                <a:solidFill>
                  <a:srgbClr val="444444"/>
                </a:solidFill>
              </a:defRPr>
            </a:pPr>
            <a:r>
              <a:t xml:space="preserve">  Validated: avg 1,224 tok/chunk, min 30, max 1,501</a:t>
            </a:r>
          </a:p>
        </p:txBody>
      </p:sp>
      <p:sp>
        <p:nvSpPr>
          <p:cNvPr id="17" name="Rectangle 16"/>
          <p:cNvSpPr/>
          <p:nvPr/>
        </p:nvSpPr>
        <p:spPr>
          <a:xfrm>
            <a:off x="4617720" y="2160270"/>
            <a:ext cx="4343400" cy="137160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17720" y="2160270"/>
            <a:ext cx="54864" cy="13716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215134"/>
            <a:ext cx="4160520" cy="228600"/>
          </a:xfrm>
          <a:prstGeom prst="rect">
            <a:avLst/>
          </a:prstGeom>
          <a:noFill/>
        </p:spPr>
        <p:txBody>
          <a:bodyPr wrap="none">
            <a:spAutoFit/>
          </a:bodyPr>
          <a:lstStyle/>
          <a:p>
            <a:pPr>
              <a:defRPr sz="1400" b="1">
                <a:solidFill>
                  <a:srgbClr val="1A1A1A"/>
                </a:solidFill>
              </a:defRPr>
            </a:pPr>
            <a:r>
              <a:t>No LangChain / LlamaIndex</a:t>
            </a:r>
          </a:p>
        </p:txBody>
      </p:sp>
      <p:sp>
        <p:nvSpPr>
          <p:cNvPr id="20" name="TextBox 19"/>
          <p:cNvSpPr txBox="1"/>
          <p:nvPr/>
        </p:nvSpPr>
        <p:spPr>
          <a:xfrm>
            <a:off x="4754880" y="2452878"/>
            <a:ext cx="4160520" cy="1033272"/>
          </a:xfrm>
          <a:prstGeom prst="rect">
            <a:avLst/>
          </a:prstGeom>
          <a:noFill/>
        </p:spPr>
        <p:txBody>
          <a:bodyPr wrap="square">
            <a:spAutoFit/>
          </a:bodyPr>
          <a:lstStyle/>
          <a:p>
            <a:pPr>
              <a:spcAft>
                <a:spcPts val="100"/>
              </a:spcAft>
              <a:defRPr sz="1000">
                <a:solidFill>
                  <a:srgbClr val="444444"/>
                </a:solidFill>
              </a:defRPr>
            </a:pPr>
            <a:r>
              <a:t xml:space="preserve">  Frameworks add abstraction without value for structured financial docs</a:t>
            </a:r>
          </a:p>
          <a:p>
            <a:pPr>
              <a:spcAft>
                <a:spcPts val="100"/>
              </a:spcAft>
              <a:defRPr sz="1000">
                <a:solidFill>
                  <a:srgbClr val="444444"/>
                </a:solidFill>
              </a:defRPr>
            </a:pPr>
            <a:r>
              <a:t xml:space="preserve">  Retrieval needs: metadata-first, balanced per-entity, section-aware</a:t>
            </a:r>
          </a:p>
          <a:p>
            <a:pPr>
              <a:spcAft>
                <a:spcPts val="100"/>
              </a:spcAft>
              <a:defRPr sz="1000">
                <a:solidFill>
                  <a:srgbClr val="444444"/>
                </a:solidFill>
              </a:defRPr>
            </a:pPr>
            <a:r>
              <a:t xml:space="preserve">  ~400 lines of retrieval logic  -  fully transparent, fully testable</a:t>
            </a:r>
          </a:p>
          <a:p>
            <a:pPr>
              <a:spcAft>
                <a:spcPts val="100"/>
              </a:spcAft>
              <a:defRPr sz="1000">
                <a:solidFill>
                  <a:srgbClr val="444444"/>
                </a:solidFill>
              </a:defRPr>
            </a:pPr>
            <a:r>
              <a:t xml:space="preserve">  Forge principle: client team must understand the code after handoff</a:t>
            </a:r>
          </a:p>
        </p:txBody>
      </p:sp>
      <p:sp>
        <p:nvSpPr>
          <p:cNvPr id="21" name="Rectangle 20"/>
          <p:cNvSpPr/>
          <p:nvPr/>
        </p:nvSpPr>
        <p:spPr>
          <a:xfrm>
            <a:off x="182880" y="3863340"/>
            <a:ext cx="8778240" cy="11887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3863340"/>
            <a:ext cx="54864" cy="118872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3918204"/>
            <a:ext cx="8503920" cy="1097280"/>
          </a:xfrm>
          <a:prstGeom prst="rect">
            <a:avLst/>
          </a:prstGeom>
          <a:noFill/>
        </p:spPr>
        <p:txBody>
          <a:bodyPr wrap="square">
            <a:spAutoFit/>
          </a:bodyPr>
          <a:lstStyle/>
          <a:p>
            <a:pPr>
              <a:spcAft>
                <a:spcPts val="100"/>
              </a:spcAft>
              <a:defRPr sz="1100" b="1">
                <a:solidFill>
                  <a:srgbClr val="1A1A1A"/>
                </a:solidFill>
              </a:defRPr>
            </a:pPr>
            <a:r>
              <a:t>Design philosophy</a:t>
            </a:r>
          </a:p>
          <a:p>
            <a:pPr>
              <a:spcAft>
                <a:spcPts val="100"/>
              </a:spcAft>
              <a:defRPr sz="1000">
                <a:solidFill>
                  <a:srgbClr val="444444"/>
                </a:solidFill>
              </a:defRPr>
            </a:pPr>
            <a:r>
              <a:t>Every piece of data that could become stale is resolved dynamically. Sectors from SEC EDGAR API, section names from each filing's own TOC, all parameters via env vars. Zero hardcoded mappings  -  the system adapts automatically to new companies, new filing formats, or new SEC requirements.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800" b="1">
                <a:solidFill>
                  <a:srgbClr val="FFFFFF"/>
                </a:solidFill>
              </a:defRPr>
            </a:pPr>
            <a:r>
              <a:t>OBSTACLES OVERCOME</a:t>
            </a:r>
          </a:p>
        </p:txBody>
      </p:sp>
      <p:sp>
        <p:nvSpPr>
          <p:cNvPr id="4" name="TextBox 3"/>
          <p:cNvSpPr txBox="1"/>
          <p:nvPr/>
        </p:nvSpPr>
        <p:spPr>
          <a:xfrm>
            <a:off x="5486400" y="9144"/>
            <a:ext cx="3429000" cy="329184"/>
          </a:xfrm>
          <a:prstGeom prst="rect">
            <a:avLst/>
          </a:prstGeom>
          <a:noFill/>
        </p:spPr>
        <p:txBody>
          <a:bodyPr wrap="none">
            <a:spAutoFit/>
          </a:bodyPr>
          <a:lstStyle/>
          <a:p>
            <a:pPr algn="r">
              <a:defRPr sz="1100">
                <a:solidFill>
                  <a:srgbClr val="888888"/>
                </a:solidFill>
              </a:defRPr>
            </a:pPr>
            <a:r>
              <a:t>production debugging in 4 hours</a:t>
            </a:r>
          </a:p>
        </p:txBody>
      </p:sp>
      <p:sp>
        <p:nvSpPr>
          <p:cNvPr id="5" name="Rectangle 4"/>
          <p:cNvSpPr/>
          <p:nvPr/>
        </p:nvSpPr>
        <p:spPr>
          <a:xfrm>
            <a:off x="182880" y="457200"/>
            <a:ext cx="2865120" cy="150876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457200"/>
            <a:ext cx="54864" cy="150876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512064"/>
            <a:ext cx="2682240" cy="228600"/>
          </a:xfrm>
          <a:prstGeom prst="rect">
            <a:avLst/>
          </a:prstGeom>
          <a:noFill/>
        </p:spPr>
        <p:txBody>
          <a:bodyPr wrap="none">
            <a:spAutoFit/>
          </a:bodyPr>
          <a:lstStyle/>
          <a:p>
            <a:pPr>
              <a:defRPr sz="1400" b="1">
                <a:solidFill>
                  <a:srgbClr val="1A1A1A"/>
                </a:solidFill>
              </a:defRPr>
            </a:pPr>
            <a:r>
              <a:t>Chunk explosion bug</a:t>
            </a:r>
          </a:p>
        </p:txBody>
      </p:sp>
      <p:sp>
        <p:nvSpPr>
          <p:cNvPr id="8" name="TextBox 7"/>
          <p:cNvSpPr txBox="1"/>
          <p:nvPr/>
        </p:nvSpPr>
        <p:spPr>
          <a:xfrm>
            <a:off x="320040" y="749808"/>
            <a:ext cx="2682240" cy="1143000"/>
          </a:xfrm>
          <a:prstGeom prst="rect">
            <a:avLst/>
          </a:prstGeom>
          <a:noFill/>
        </p:spPr>
        <p:txBody>
          <a:bodyPr wrap="square">
            <a:spAutoFit/>
          </a:bodyPr>
          <a:lstStyle/>
          <a:p>
            <a:pPr>
              <a:spcAft>
                <a:spcPts val="100"/>
              </a:spcAft>
              <a:defRPr sz="1000">
                <a:solidFill>
                  <a:srgbClr val="444444"/>
                </a:solidFill>
              </a:defRPr>
            </a:pPr>
            <a:r>
              <a:t xml:space="preserve">  First build: 261,992 chunks</a:t>
            </a:r>
          </a:p>
          <a:p>
            <a:pPr>
              <a:spcAft>
                <a:spcPts val="100"/>
              </a:spcAft>
              <a:defRPr sz="1000">
                <a:solidFill>
                  <a:srgbClr val="444444"/>
                </a:solidFill>
              </a:defRPr>
            </a:pPr>
            <a:r>
              <a:t xml:space="preserve">  Root cause: sentence boundary</a:t>
            </a:r>
          </a:p>
          <a:p>
            <a:pPr>
              <a:spcAft>
                <a:spcPts val="100"/>
              </a:spcAft>
              <a:defRPr sz="1000">
                <a:solidFill>
                  <a:srgbClr val="444444"/>
                </a:solidFill>
              </a:defRPr>
            </a:pPr>
            <a:r>
              <a:t xml:space="preserve">  logic reset step size to ~0</a:t>
            </a:r>
          </a:p>
          <a:p>
            <a:pPr>
              <a:spcAft>
                <a:spcPts val="100"/>
              </a:spcAft>
              <a:defRPr sz="1000">
                <a:solidFill>
                  <a:srgbClr val="444444"/>
                </a:solidFill>
              </a:defRPr>
            </a:pPr>
            <a:r>
              <a:t xml:space="preserve">  AAPL Risk Factors: 209 chunks</a:t>
            </a:r>
          </a:p>
          <a:p>
            <a:pPr>
              <a:spcAft>
                <a:spcPts val="100"/>
              </a:spcAft>
              <a:defRPr sz="1000">
                <a:solidFill>
                  <a:srgbClr val="444444"/>
                </a:solidFill>
              </a:defRPr>
            </a:pPr>
            <a:r>
              <a:t xml:space="preserve">  instead of 9</a:t>
            </a:r>
          </a:p>
          <a:p>
            <a:pPr>
              <a:spcAft>
                <a:spcPts val="100"/>
              </a:spcAft>
              <a:defRPr sz="1000">
                <a:solidFill>
                  <a:srgbClr val="444444"/>
                </a:solidFill>
              </a:defRPr>
            </a:pPr>
            <a:r>
              <a:t xml:space="preserve">  Fix: fixed step = chunk - overlap</a:t>
            </a:r>
          </a:p>
          <a:p>
            <a:pPr>
              <a:spcAft>
                <a:spcPts val="100"/>
              </a:spcAft>
              <a:defRPr sz="1000">
                <a:solidFill>
                  <a:srgbClr val="444444"/>
                </a:solidFill>
              </a:defRPr>
            </a:pPr>
            <a:r>
              <a:t xml:space="preserve">  Result: 261K -&gt; 13,953</a:t>
            </a:r>
          </a:p>
        </p:txBody>
      </p:sp>
      <p:sp>
        <p:nvSpPr>
          <p:cNvPr id="9" name="Rectangle 8"/>
          <p:cNvSpPr/>
          <p:nvPr/>
        </p:nvSpPr>
        <p:spPr>
          <a:xfrm>
            <a:off x="3139440" y="457200"/>
            <a:ext cx="2865120" cy="150876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39440" y="457200"/>
            <a:ext cx="54864" cy="150876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76600" y="512064"/>
            <a:ext cx="2682240" cy="228600"/>
          </a:xfrm>
          <a:prstGeom prst="rect">
            <a:avLst/>
          </a:prstGeom>
          <a:noFill/>
        </p:spPr>
        <p:txBody>
          <a:bodyPr wrap="none">
            <a:spAutoFit/>
          </a:bodyPr>
          <a:lstStyle/>
          <a:p>
            <a:pPr>
              <a:defRPr sz="1400" b="1">
                <a:solidFill>
                  <a:srgbClr val="1A1A1A"/>
                </a:solidFill>
              </a:defRPr>
            </a:pPr>
            <a:r>
              <a:t>Silent 30% data loss</a:t>
            </a:r>
          </a:p>
        </p:txBody>
      </p:sp>
      <p:sp>
        <p:nvSpPr>
          <p:cNvPr id="12" name="TextBox 11"/>
          <p:cNvSpPr txBox="1"/>
          <p:nvPr/>
        </p:nvSpPr>
        <p:spPr>
          <a:xfrm>
            <a:off x="3276600" y="749808"/>
            <a:ext cx="2682240" cy="1143000"/>
          </a:xfrm>
          <a:prstGeom prst="rect">
            <a:avLst/>
          </a:prstGeom>
          <a:noFill/>
        </p:spPr>
        <p:txBody>
          <a:bodyPr wrap="square">
            <a:spAutoFit/>
          </a:bodyPr>
          <a:lstStyle/>
          <a:p>
            <a:pPr>
              <a:spcAft>
                <a:spcPts val="100"/>
              </a:spcAft>
              <a:defRPr sz="1000">
                <a:solidFill>
                  <a:srgbClr val="444444"/>
                </a:solidFill>
              </a:defRPr>
            </a:pPr>
            <a:r>
              <a:t xml:space="preserve">  "Keep longest" dedup dropped</a:t>
            </a:r>
          </a:p>
          <a:p>
            <a:pPr>
              <a:spcAft>
                <a:spcPts val="100"/>
              </a:spcAft>
              <a:defRPr sz="1000">
                <a:solidFill>
                  <a:srgbClr val="444444"/>
                </a:solidFill>
              </a:defRPr>
            </a:pPr>
            <a:r>
              <a:t xml:space="preserve">  1,820 sections with &gt;2K chars</a:t>
            </a:r>
          </a:p>
          <a:p>
            <a:pPr>
              <a:spcAft>
                <a:spcPts val="100"/>
              </a:spcAft>
              <a:defRPr sz="1000">
                <a:solidFill>
                  <a:srgbClr val="444444"/>
                </a:solidFill>
              </a:defRPr>
            </a:pPr>
            <a:r>
              <a:t xml:space="preserve">  of unique content silently</a:t>
            </a:r>
          </a:p>
          <a:p>
            <a:pPr>
              <a:spcAft>
                <a:spcPts val="100"/>
              </a:spcAft>
              <a:defRPr sz="1000">
                <a:solidFill>
                  <a:srgbClr val="444444"/>
                </a:solidFill>
              </a:defRPr>
            </a:pPr>
            <a:r>
              <a:t xml:space="preserve">  Spot checks all passed  -  only</a:t>
            </a:r>
          </a:p>
          <a:p>
            <a:pPr>
              <a:spcAft>
                <a:spcPts val="100"/>
              </a:spcAft>
              <a:defRPr sz="1000">
                <a:solidFill>
                  <a:srgbClr val="444444"/>
                </a:solidFill>
              </a:defRPr>
            </a:pPr>
            <a:r>
              <a:t xml:space="preserve">  checking every dropped section</a:t>
            </a:r>
          </a:p>
          <a:p>
            <a:pPr>
              <a:spcAft>
                <a:spcPts val="100"/>
              </a:spcAft>
              <a:defRPr sz="1000">
                <a:solidFill>
                  <a:srgbClr val="444444"/>
                </a:solidFill>
              </a:defRPr>
            </a:pPr>
            <a:r>
              <a:t xml:space="preserve">  revealed the loss</a:t>
            </a:r>
          </a:p>
          <a:p>
            <a:pPr>
              <a:spcAft>
                <a:spcPts val="100"/>
              </a:spcAft>
              <a:defRPr sz="1000">
                <a:solidFill>
                  <a:srgbClr val="444444"/>
                </a:solidFill>
              </a:defRPr>
            </a:pPr>
            <a:r>
              <a:t xml:space="preserve">  Fix: merge by (Item, Part)</a:t>
            </a:r>
          </a:p>
        </p:txBody>
      </p:sp>
      <p:sp>
        <p:nvSpPr>
          <p:cNvPr id="13" name="Rectangle 12"/>
          <p:cNvSpPr/>
          <p:nvPr/>
        </p:nvSpPr>
        <p:spPr>
          <a:xfrm>
            <a:off x="6096000" y="457200"/>
            <a:ext cx="2865120" cy="150876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6000" y="457200"/>
            <a:ext cx="54864" cy="150876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3160" y="512064"/>
            <a:ext cx="2682240" cy="228600"/>
          </a:xfrm>
          <a:prstGeom prst="rect">
            <a:avLst/>
          </a:prstGeom>
          <a:noFill/>
        </p:spPr>
        <p:txBody>
          <a:bodyPr wrap="none">
            <a:spAutoFit/>
          </a:bodyPr>
          <a:lstStyle/>
          <a:p>
            <a:pPr>
              <a:defRPr sz="1400" b="1">
                <a:solidFill>
                  <a:srgbClr val="1A1A1A"/>
                </a:solidFill>
              </a:defRPr>
            </a:pPr>
            <a:r>
              <a:t>Multi-company retrieval bias</a:t>
            </a:r>
          </a:p>
        </p:txBody>
      </p:sp>
      <p:sp>
        <p:nvSpPr>
          <p:cNvPr id="16" name="TextBox 15"/>
          <p:cNvSpPr txBox="1"/>
          <p:nvPr/>
        </p:nvSpPr>
        <p:spPr>
          <a:xfrm>
            <a:off x="6233160" y="749808"/>
            <a:ext cx="2682240" cy="1143000"/>
          </a:xfrm>
          <a:prstGeom prst="rect">
            <a:avLst/>
          </a:prstGeom>
          <a:noFill/>
        </p:spPr>
        <p:txBody>
          <a:bodyPr wrap="square">
            <a:spAutoFit/>
          </a:bodyPr>
          <a:lstStyle/>
          <a:p>
            <a:pPr>
              <a:spcAft>
                <a:spcPts val="100"/>
              </a:spcAft>
              <a:defRPr sz="1000">
                <a:solidFill>
                  <a:srgbClr val="444444"/>
                </a:solidFill>
              </a:defRPr>
            </a:pPr>
            <a:r>
              <a:t xml:space="preserve">  "Compare AAPL, TSLA, JPM"</a:t>
            </a:r>
          </a:p>
          <a:p>
            <a:pPr>
              <a:spcAft>
                <a:spcPts val="100"/>
              </a:spcAft>
              <a:defRPr sz="1000">
                <a:solidFill>
                  <a:srgbClr val="444444"/>
                </a:solidFill>
              </a:defRPr>
            </a:pPr>
            <a:r>
              <a:t xml:space="preserve">  returned 25/25 JPM chunks</a:t>
            </a:r>
          </a:p>
          <a:p>
            <a:pPr>
              <a:spcAft>
                <a:spcPts val="100"/>
              </a:spcAft>
              <a:defRPr sz="1000">
                <a:solidFill>
                  <a:srgbClr val="444444"/>
                </a:solidFill>
              </a:defRPr>
            </a:pPr>
            <a:r>
              <a:t xml:space="preserve">  JPM embedding distance: 0.45</a:t>
            </a:r>
          </a:p>
          <a:p>
            <a:pPr>
              <a:spcAft>
                <a:spcPts val="100"/>
              </a:spcAft>
              <a:defRPr sz="1000">
                <a:solidFill>
                  <a:srgbClr val="444444"/>
                </a:solidFill>
              </a:defRPr>
            </a:pPr>
            <a:r>
              <a:t xml:space="preserve">  AAPL: 0.47, TSLA: 0.50</a:t>
            </a:r>
          </a:p>
          <a:p>
            <a:pPr>
              <a:spcAft>
                <a:spcPts val="100"/>
              </a:spcAft>
              <a:defRPr sz="1000">
                <a:solidFill>
                  <a:srgbClr val="444444"/>
                </a:solidFill>
              </a:defRPr>
            </a:pPr>
            <a:r>
              <a:t xml:space="preserve">  Fix: per-ticker retrieval with</a:t>
            </a:r>
          </a:p>
          <a:p>
            <a:pPr>
              <a:spcAft>
                <a:spcPts val="100"/>
              </a:spcAft>
              <a:defRPr sz="1000">
                <a:solidFill>
                  <a:srgbClr val="444444"/>
                </a:solidFill>
              </a:defRPr>
            </a:pPr>
            <a:r>
              <a:t xml:space="preserve">  equal allocation + section-</a:t>
            </a:r>
          </a:p>
          <a:p>
            <a:pPr>
              <a:spcAft>
                <a:spcPts val="100"/>
              </a:spcAft>
              <a:defRPr sz="1000">
                <a:solidFill>
                  <a:srgbClr val="444444"/>
                </a:solidFill>
              </a:defRPr>
            </a:pPr>
            <a:r>
              <a:t xml:space="preserve">  aware filtering + merge</a:t>
            </a:r>
          </a:p>
        </p:txBody>
      </p:sp>
      <p:sp>
        <p:nvSpPr>
          <p:cNvPr id="17" name="Rectangle 16"/>
          <p:cNvSpPr/>
          <p:nvPr/>
        </p:nvSpPr>
        <p:spPr>
          <a:xfrm>
            <a:off x="182880" y="2297430"/>
            <a:ext cx="2865120" cy="150876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2297430"/>
            <a:ext cx="54864"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2352294"/>
            <a:ext cx="2682240" cy="228600"/>
          </a:xfrm>
          <a:prstGeom prst="rect">
            <a:avLst/>
          </a:prstGeom>
          <a:noFill/>
        </p:spPr>
        <p:txBody>
          <a:bodyPr wrap="none">
            <a:spAutoFit/>
          </a:bodyPr>
          <a:lstStyle/>
          <a:p>
            <a:pPr>
              <a:defRPr sz="1400" b="1">
                <a:solidFill>
                  <a:srgbClr val="1A1A1A"/>
                </a:solidFill>
              </a:defRPr>
            </a:pPr>
            <a:r>
              <a:t>6 corpus format edge cases</a:t>
            </a:r>
          </a:p>
        </p:txBody>
      </p:sp>
      <p:sp>
        <p:nvSpPr>
          <p:cNvPr id="20" name="TextBox 19"/>
          <p:cNvSpPr txBox="1"/>
          <p:nvPr/>
        </p:nvSpPr>
        <p:spPr>
          <a:xfrm>
            <a:off x="320040" y="2590038"/>
            <a:ext cx="2682240" cy="1143000"/>
          </a:xfrm>
          <a:prstGeom prst="rect">
            <a:avLst/>
          </a:prstGeom>
          <a:noFill/>
        </p:spPr>
        <p:txBody>
          <a:bodyPr wrap="square">
            <a:spAutoFit/>
          </a:bodyPr>
          <a:lstStyle/>
          <a:p>
            <a:pPr>
              <a:spcAft>
                <a:spcPts val="100"/>
              </a:spcAft>
              <a:defRPr sz="1000">
                <a:solidFill>
                  <a:srgbClr val="444444"/>
                </a:solidFill>
              </a:defRPr>
            </a:pPr>
            <a:r>
              <a:t xml:space="preserve">  54/246 missing header fields</a:t>
            </a:r>
          </a:p>
          <a:p>
            <a:pPr>
              <a:spcAft>
                <a:spcPts val="100"/>
              </a:spcAft>
              <a:defRPr sz="1000">
                <a:solidFill>
                  <a:srgbClr val="444444"/>
                </a:solidFill>
              </a:defRPr>
            </a:pPr>
            <a:r>
              <a:t xml:space="preserve">  2/246 no "UNITED STATES" marker</a:t>
            </a:r>
          </a:p>
          <a:p>
            <a:pPr>
              <a:spcAft>
                <a:spcPts val="100"/>
              </a:spcAft>
              <a:defRPr sz="1000">
                <a:solidFill>
                  <a:srgbClr val="444444"/>
                </a:solidFill>
              </a:defRPr>
            </a:pPr>
            <a:r>
              <a:t xml:space="preserve">  Mid-line section headings</a:t>
            </a:r>
          </a:p>
          <a:p>
            <a:pPr>
              <a:spcAft>
                <a:spcPts val="100"/>
              </a:spcAft>
              <a:defRPr sz="1000">
                <a:solidFill>
                  <a:srgbClr val="444444"/>
                </a:solidFill>
              </a:defRPr>
            </a:pPr>
            <a:r>
              <a:t xml:space="preserve">  TOC vs content disambiguation</a:t>
            </a:r>
          </a:p>
          <a:p>
            <a:pPr>
              <a:spcAft>
                <a:spcPts val="100"/>
              </a:spcAft>
              <a:defRPr sz="1000">
                <a:solidFill>
                  <a:srgbClr val="444444"/>
                </a:solidFill>
              </a:defRPr>
            </a:pPr>
            <a:r>
              <a:t xml:space="preserve">  Footer contamination (false TOC)</a:t>
            </a:r>
          </a:p>
          <a:p>
            <a:pPr>
              <a:spcAft>
                <a:spcPts val="100"/>
              </a:spcAft>
              <a:defRPr sz="1000">
                <a:solidFill>
                  <a:srgbClr val="444444"/>
                </a:solidFill>
              </a:defRPr>
            </a:pPr>
            <a:r>
              <a:t xml:space="preserve">  JNJ variant heading format</a:t>
            </a:r>
          </a:p>
          <a:p>
            <a:pPr>
              <a:spcAft>
                <a:spcPts val="100"/>
              </a:spcAft>
              <a:defRPr sz="1000">
                <a:solidFill>
                  <a:srgbClr val="444444"/>
                </a:solidFill>
              </a:defRPr>
            </a:pPr>
            <a:r>
              <a:t xml:space="preserve">  All solved, 246/246 parse (100%)</a:t>
            </a:r>
          </a:p>
        </p:txBody>
      </p:sp>
      <p:sp>
        <p:nvSpPr>
          <p:cNvPr id="21" name="Rectangle 20"/>
          <p:cNvSpPr/>
          <p:nvPr/>
        </p:nvSpPr>
        <p:spPr>
          <a:xfrm>
            <a:off x="3139440" y="2297430"/>
            <a:ext cx="2865120" cy="150876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39440" y="2297430"/>
            <a:ext cx="54864"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6600" y="2352294"/>
            <a:ext cx="2682240" cy="228600"/>
          </a:xfrm>
          <a:prstGeom prst="rect">
            <a:avLst/>
          </a:prstGeom>
          <a:noFill/>
        </p:spPr>
        <p:txBody>
          <a:bodyPr wrap="none">
            <a:spAutoFit/>
          </a:bodyPr>
          <a:lstStyle/>
          <a:p>
            <a:pPr>
              <a:defRPr sz="1400" b="1">
                <a:solidFill>
                  <a:srgbClr val="1A1A1A"/>
                </a:solidFill>
              </a:defRPr>
            </a:pPr>
            <a:r>
              <a:t>OpenAI rate limit (30K TPM)</a:t>
            </a:r>
          </a:p>
        </p:txBody>
      </p:sp>
      <p:sp>
        <p:nvSpPr>
          <p:cNvPr id="24" name="TextBox 23"/>
          <p:cNvSpPr txBox="1"/>
          <p:nvPr/>
        </p:nvSpPr>
        <p:spPr>
          <a:xfrm>
            <a:off x="3276600" y="2590038"/>
            <a:ext cx="2682240" cy="1143000"/>
          </a:xfrm>
          <a:prstGeom prst="rect">
            <a:avLst/>
          </a:prstGeom>
          <a:noFill/>
        </p:spPr>
        <p:txBody>
          <a:bodyPr wrap="square">
            <a:spAutoFit/>
          </a:bodyPr>
          <a:lstStyle/>
          <a:p>
            <a:pPr>
              <a:spcAft>
                <a:spcPts val="100"/>
              </a:spcAft>
              <a:defRPr sz="1000">
                <a:solidFill>
                  <a:srgbClr val="444444"/>
                </a:solidFill>
              </a:defRPr>
            </a:pPr>
            <a:r>
              <a:t xml:space="preserve">  18-chunk pharma prompt: 27K</a:t>
            </a:r>
          </a:p>
          <a:p>
            <a:pPr>
              <a:spcAft>
                <a:spcPts val="100"/>
              </a:spcAft>
              <a:defRPr sz="1000">
                <a:solidFill>
                  <a:srgbClr val="444444"/>
                </a:solidFill>
              </a:defRPr>
            </a:pPr>
            <a:r>
              <a:t xml:space="preserve">  tokens  -  rejected per-request</a:t>
            </a:r>
          </a:p>
          <a:p>
            <a:pPr>
              <a:spcAft>
                <a:spcPts val="100"/>
              </a:spcAft>
              <a:defRPr sz="1000">
                <a:solidFill>
                  <a:srgbClr val="444444"/>
                </a:solidFill>
              </a:defRPr>
            </a:pPr>
            <a:r>
              <a:t xml:space="preserve">  Anthropic: same prompt succeeds</a:t>
            </a:r>
          </a:p>
          <a:p>
            <a:pPr>
              <a:spcAft>
                <a:spcPts val="100"/>
              </a:spcAft>
              <a:defRPr sz="1000">
                <a:solidFill>
                  <a:srgbClr val="444444"/>
                </a:solidFill>
              </a:defRPr>
            </a:pPr>
            <a:r>
              <a:t xml:space="preserve">  (token bucket vs hard ceiling)</a:t>
            </a:r>
          </a:p>
          <a:p>
            <a:pPr>
              <a:spcAft>
                <a:spcPts val="100"/>
              </a:spcAft>
              <a:defRPr sz="1000">
                <a:solidFill>
                  <a:srgbClr val="444444"/>
                </a:solidFill>
              </a:defRPr>
            </a:pPr>
            <a:r>
              <a:t xml:space="preserve">  Fix: Claude as default provider</a:t>
            </a:r>
          </a:p>
          <a:p>
            <a:pPr>
              <a:spcAft>
                <a:spcPts val="100"/>
              </a:spcAft>
              <a:defRPr sz="1000">
                <a:solidFill>
                  <a:srgbClr val="444444"/>
                </a:solidFill>
              </a:defRPr>
            </a:pPr>
            <a:r>
              <a:t xml:space="preserve">  OpenAI usable on Tier 2+</a:t>
            </a:r>
          </a:p>
          <a:p>
            <a:pPr>
              <a:spcAft>
                <a:spcPts val="100"/>
              </a:spcAft>
              <a:defRPr sz="1000">
                <a:solidFill>
                  <a:srgbClr val="444444"/>
                </a:solidFill>
              </a:defRPr>
            </a:pPr>
            <a:r>
              <a:t xml:space="preserve">  or with fewer chunks (10-12)</a:t>
            </a:r>
          </a:p>
        </p:txBody>
      </p:sp>
      <p:sp>
        <p:nvSpPr>
          <p:cNvPr id="25" name="Rectangle 24"/>
          <p:cNvSpPr/>
          <p:nvPr/>
        </p:nvSpPr>
        <p:spPr>
          <a:xfrm>
            <a:off x="6096000" y="2297430"/>
            <a:ext cx="2865120" cy="150876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2297430"/>
            <a:ext cx="54864"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160" y="2352294"/>
            <a:ext cx="2682240" cy="228600"/>
          </a:xfrm>
          <a:prstGeom prst="rect">
            <a:avLst/>
          </a:prstGeom>
          <a:noFill/>
        </p:spPr>
        <p:txBody>
          <a:bodyPr wrap="none">
            <a:spAutoFit/>
          </a:bodyPr>
          <a:lstStyle/>
          <a:p>
            <a:pPr>
              <a:defRPr sz="1400" b="1">
                <a:solidFill>
                  <a:srgbClr val="1A1A1A"/>
                </a:solidFill>
              </a:defRPr>
            </a:pPr>
            <a:r>
              <a:t>ChromaDB gotchas</a:t>
            </a:r>
          </a:p>
        </p:txBody>
      </p:sp>
      <p:sp>
        <p:nvSpPr>
          <p:cNvPr id="28" name="TextBox 27"/>
          <p:cNvSpPr txBox="1"/>
          <p:nvPr/>
        </p:nvSpPr>
        <p:spPr>
          <a:xfrm>
            <a:off x="6233160" y="2590038"/>
            <a:ext cx="2682240" cy="1143000"/>
          </a:xfrm>
          <a:prstGeom prst="rect">
            <a:avLst/>
          </a:prstGeom>
          <a:noFill/>
        </p:spPr>
        <p:txBody>
          <a:bodyPr wrap="square">
            <a:spAutoFit/>
          </a:bodyPr>
          <a:lstStyle/>
          <a:p>
            <a:pPr>
              <a:spcAft>
                <a:spcPts val="100"/>
              </a:spcAft>
              <a:defRPr sz="1000">
                <a:solidFill>
                  <a:srgbClr val="444444"/>
                </a:solidFill>
              </a:defRPr>
            </a:pPr>
            <a:r>
              <a:t xml:space="preserve">  Built-in embeddings: 384 dims</a:t>
            </a:r>
          </a:p>
          <a:p>
            <a:pPr>
              <a:spcAft>
                <a:spcPts val="100"/>
              </a:spcAft>
              <a:defRPr sz="1000">
                <a:solidFill>
                  <a:srgbClr val="444444"/>
                </a:solidFill>
              </a:defRPr>
            </a:pPr>
            <a:r>
              <a:t xml:space="preserve">  vs our OpenAI: 1,536 dims</a:t>
            </a:r>
          </a:p>
          <a:p>
            <a:pPr>
              <a:spcAft>
                <a:spcPts val="100"/>
              </a:spcAft>
              <a:defRPr sz="1000">
                <a:solidFill>
                  <a:srgbClr val="444444"/>
                </a:solidFill>
              </a:defRPr>
            </a:pPr>
            <a:r>
              <a:t xml:space="preserve">  Must use query_embeddings,</a:t>
            </a:r>
          </a:p>
          <a:p>
            <a:pPr>
              <a:spcAft>
                <a:spcPts val="100"/>
              </a:spcAft>
              <a:defRPr sz="1000">
                <a:solidFill>
                  <a:srgbClr val="444444"/>
                </a:solidFill>
              </a:defRPr>
            </a:pPr>
            <a:r>
              <a:t xml:space="preserve">  never query_texts</a:t>
            </a:r>
          </a:p>
          <a:p>
            <a:pPr>
              <a:spcAft>
                <a:spcPts val="100"/>
              </a:spcAft>
              <a:defRPr sz="1000">
                <a:solidFill>
                  <a:srgbClr val="444444"/>
                </a:solidFill>
              </a:defRPr>
            </a:pPr>
            <a:r>
              <a:t xml:space="preserve">  Compound filters require $and</a:t>
            </a:r>
          </a:p>
          <a:p>
            <a:pPr>
              <a:spcAft>
                <a:spcPts val="100"/>
              </a:spcAft>
              <a:defRPr sz="1000">
                <a:solidFill>
                  <a:srgbClr val="444444"/>
                </a:solidFill>
              </a:defRPr>
            </a:pPr>
            <a:r>
              <a:t xml:space="preserve">  Section names inconsistent:</a:t>
            </a:r>
          </a:p>
          <a:p>
            <a:pPr>
              <a:spcAft>
                <a:spcPts val="100"/>
              </a:spcAft>
              <a:defRPr sz="1000">
                <a:solidFill>
                  <a:srgbClr val="444444"/>
                </a:solidFill>
              </a:defRPr>
            </a:pPr>
            <a:r>
              <a:t xml:space="preserve">  "Risk Factors" vs "Risk Factors."</a:t>
            </a:r>
          </a:p>
        </p:txBody>
      </p:sp>
      <p:sp>
        <p:nvSpPr>
          <p:cNvPr id="29" name="Rectangle 28"/>
          <p:cNvSpPr/>
          <p:nvPr/>
        </p:nvSpPr>
        <p:spPr>
          <a:xfrm>
            <a:off x="182880" y="4137660"/>
            <a:ext cx="8778240"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2880" y="4137660"/>
            <a:ext cx="54864" cy="9144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4192524"/>
            <a:ext cx="8503920" cy="822960"/>
          </a:xfrm>
          <a:prstGeom prst="rect">
            <a:avLst/>
          </a:prstGeom>
          <a:noFill/>
        </p:spPr>
        <p:txBody>
          <a:bodyPr wrap="square">
            <a:spAutoFit/>
          </a:bodyPr>
          <a:lstStyle/>
          <a:p>
            <a:pPr>
              <a:spcAft>
                <a:spcPts val="100"/>
              </a:spcAft>
              <a:defRPr sz="1100" b="1">
                <a:solidFill>
                  <a:srgbClr val="1A1A1A"/>
                </a:solidFill>
              </a:defRPr>
            </a:pPr>
            <a:r>
              <a:t>Key insight</a:t>
            </a:r>
          </a:p>
          <a:p>
            <a:pPr>
              <a:spcAft>
                <a:spcPts val="100"/>
              </a:spcAft>
              <a:defRPr sz="1000">
                <a:solidFill>
                  <a:srgbClr val="444444"/>
                </a:solidFill>
              </a:defRPr>
            </a:pPr>
            <a:r>
              <a:t>Data quality testing matters more than model selection. The best LLM can't answer correctly if retrieval feeds it the wrong chunks. Every obstacle was caught through systematic verification, not spot-checking.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800" b="1">
                <a:solidFill>
                  <a:srgbClr val="FFFFFF"/>
                </a:solidFill>
              </a:defRPr>
            </a:pPr>
            <a:r>
              <a:t>QUALITY EVALUATION</a:t>
            </a:r>
          </a:p>
        </p:txBody>
      </p:sp>
      <p:sp>
        <p:nvSpPr>
          <p:cNvPr id="4" name="TextBox 3"/>
          <p:cNvSpPr txBox="1"/>
          <p:nvPr/>
        </p:nvSpPr>
        <p:spPr>
          <a:xfrm>
            <a:off x="5486400" y="9144"/>
            <a:ext cx="3429000" cy="329184"/>
          </a:xfrm>
          <a:prstGeom prst="rect">
            <a:avLst/>
          </a:prstGeom>
          <a:noFill/>
        </p:spPr>
        <p:txBody>
          <a:bodyPr wrap="none">
            <a:spAutoFit/>
          </a:bodyPr>
          <a:lstStyle/>
          <a:p>
            <a:pPr algn="r">
              <a:defRPr sz="1100">
                <a:solidFill>
                  <a:srgbClr val="888888"/>
                </a:solidFill>
              </a:defRPr>
            </a:pPr>
            <a:r>
              <a:t>how I verified accuracy</a:t>
            </a:r>
          </a:p>
        </p:txBody>
      </p:sp>
      <p:sp>
        <p:nvSpPr>
          <p:cNvPr id="5" name="Rectangle 4"/>
          <p:cNvSpPr/>
          <p:nvPr/>
        </p:nvSpPr>
        <p:spPr>
          <a:xfrm>
            <a:off x="18288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548640"/>
            <a:ext cx="1386840" cy="411480"/>
          </a:xfrm>
          <a:prstGeom prst="rect">
            <a:avLst/>
          </a:prstGeom>
          <a:noFill/>
        </p:spPr>
        <p:txBody>
          <a:bodyPr wrap="none">
            <a:spAutoFit/>
          </a:bodyPr>
          <a:lstStyle/>
          <a:p>
            <a:pPr algn="ctr">
              <a:defRPr sz="2800" b="1">
                <a:solidFill>
                  <a:srgbClr val="4A6CF7"/>
                </a:solidFill>
              </a:defRPr>
            </a:pPr>
            <a:r>
              <a:t>34</a:t>
            </a:r>
          </a:p>
        </p:txBody>
      </p:sp>
      <p:sp>
        <p:nvSpPr>
          <p:cNvPr id="7" name="TextBox 6"/>
          <p:cNvSpPr txBox="1"/>
          <p:nvPr/>
        </p:nvSpPr>
        <p:spPr>
          <a:xfrm>
            <a:off x="182880" y="868680"/>
            <a:ext cx="1386840" cy="228600"/>
          </a:xfrm>
          <a:prstGeom prst="rect">
            <a:avLst/>
          </a:prstGeom>
          <a:noFill/>
        </p:spPr>
        <p:txBody>
          <a:bodyPr wrap="none">
            <a:spAutoFit/>
          </a:bodyPr>
          <a:lstStyle/>
          <a:p>
            <a:pPr algn="ctr">
              <a:defRPr sz="1000">
                <a:solidFill>
                  <a:srgbClr val="444444"/>
                </a:solidFill>
              </a:defRPr>
            </a:pPr>
            <a:r>
              <a:t>claims tested</a:t>
            </a:r>
          </a:p>
        </p:txBody>
      </p:sp>
      <p:sp>
        <p:nvSpPr>
          <p:cNvPr id="8" name="Rectangle 7"/>
          <p:cNvSpPr/>
          <p:nvPr/>
        </p:nvSpPr>
        <p:spPr>
          <a:xfrm>
            <a:off x="166116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1160" y="548640"/>
            <a:ext cx="1386840" cy="411480"/>
          </a:xfrm>
          <a:prstGeom prst="rect">
            <a:avLst/>
          </a:prstGeom>
          <a:noFill/>
        </p:spPr>
        <p:txBody>
          <a:bodyPr wrap="none">
            <a:spAutoFit/>
          </a:bodyPr>
          <a:lstStyle/>
          <a:p>
            <a:pPr algn="ctr">
              <a:defRPr sz="2800" b="1">
                <a:solidFill>
                  <a:srgbClr val="10A37F"/>
                </a:solidFill>
              </a:defRPr>
            </a:pPr>
            <a:r>
              <a:t>97%</a:t>
            </a:r>
          </a:p>
        </p:txBody>
      </p:sp>
      <p:sp>
        <p:nvSpPr>
          <p:cNvPr id="10" name="TextBox 9"/>
          <p:cNvSpPr txBox="1"/>
          <p:nvPr/>
        </p:nvSpPr>
        <p:spPr>
          <a:xfrm>
            <a:off x="1661160" y="868680"/>
            <a:ext cx="1386840" cy="228600"/>
          </a:xfrm>
          <a:prstGeom prst="rect">
            <a:avLst/>
          </a:prstGeom>
          <a:noFill/>
        </p:spPr>
        <p:txBody>
          <a:bodyPr wrap="none">
            <a:spAutoFit/>
          </a:bodyPr>
          <a:lstStyle/>
          <a:p>
            <a:pPr algn="ctr">
              <a:defRPr sz="1000">
                <a:solidFill>
                  <a:srgbClr val="444444"/>
                </a:solidFill>
              </a:defRPr>
            </a:pPr>
            <a:r>
              <a:t>exact match</a:t>
            </a:r>
          </a:p>
        </p:txBody>
      </p:sp>
      <p:sp>
        <p:nvSpPr>
          <p:cNvPr id="11" name="Rectangle 10"/>
          <p:cNvSpPr/>
          <p:nvPr/>
        </p:nvSpPr>
        <p:spPr>
          <a:xfrm>
            <a:off x="313944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39440" y="548640"/>
            <a:ext cx="1386840" cy="411480"/>
          </a:xfrm>
          <a:prstGeom prst="rect">
            <a:avLst/>
          </a:prstGeom>
          <a:noFill/>
        </p:spPr>
        <p:txBody>
          <a:bodyPr wrap="none">
            <a:spAutoFit/>
          </a:bodyPr>
          <a:lstStyle/>
          <a:p>
            <a:pPr algn="ctr">
              <a:defRPr sz="2800" b="1">
                <a:solidFill>
                  <a:srgbClr val="10A37F"/>
                </a:solidFill>
              </a:defRPr>
            </a:pPr>
            <a:r>
              <a:t>0</a:t>
            </a:r>
          </a:p>
        </p:txBody>
      </p:sp>
      <p:sp>
        <p:nvSpPr>
          <p:cNvPr id="13" name="TextBox 12"/>
          <p:cNvSpPr txBox="1"/>
          <p:nvPr/>
        </p:nvSpPr>
        <p:spPr>
          <a:xfrm>
            <a:off x="3139440" y="868680"/>
            <a:ext cx="1386840" cy="228600"/>
          </a:xfrm>
          <a:prstGeom prst="rect">
            <a:avLst/>
          </a:prstGeom>
          <a:noFill/>
        </p:spPr>
        <p:txBody>
          <a:bodyPr wrap="none">
            <a:spAutoFit/>
          </a:bodyPr>
          <a:lstStyle/>
          <a:p>
            <a:pPr algn="ctr">
              <a:defRPr sz="1000">
                <a:solidFill>
                  <a:srgbClr val="444444"/>
                </a:solidFill>
              </a:defRPr>
            </a:pPr>
            <a:r>
              <a:t>hallucinations</a:t>
            </a:r>
          </a:p>
        </p:txBody>
      </p:sp>
      <p:sp>
        <p:nvSpPr>
          <p:cNvPr id="14" name="Rectangle 13"/>
          <p:cNvSpPr/>
          <p:nvPr/>
        </p:nvSpPr>
        <p:spPr>
          <a:xfrm>
            <a:off x="461772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548640"/>
            <a:ext cx="1386840" cy="411480"/>
          </a:xfrm>
          <a:prstGeom prst="rect">
            <a:avLst/>
          </a:prstGeom>
          <a:noFill/>
        </p:spPr>
        <p:txBody>
          <a:bodyPr wrap="none">
            <a:spAutoFit/>
          </a:bodyPr>
          <a:lstStyle/>
          <a:p>
            <a:pPr algn="ctr">
              <a:defRPr sz="2800" b="1">
                <a:solidFill>
                  <a:srgbClr val="4A6CF7"/>
                </a:solidFill>
              </a:defRPr>
            </a:pPr>
            <a:r>
              <a:t>5</a:t>
            </a:r>
          </a:p>
        </p:txBody>
      </p:sp>
      <p:sp>
        <p:nvSpPr>
          <p:cNvPr id="16" name="TextBox 15"/>
          <p:cNvSpPr txBox="1"/>
          <p:nvPr/>
        </p:nvSpPr>
        <p:spPr>
          <a:xfrm>
            <a:off x="4617720" y="868680"/>
            <a:ext cx="1386840" cy="228600"/>
          </a:xfrm>
          <a:prstGeom prst="rect">
            <a:avLst/>
          </a:prstGeom>
          <a:noFill/>
        </p:spPr>
        <p:txBody>
          <a:bodyPr wrap="none">
            <a:spAutoFit/>
          </a:bodyPr>
          <a:lstStyle/>
          <a:p>
            <a:pPr algn="ctr">
              <a:defRPr sz="1000">
                <a:solidFill>
                  <a:srgbClr val="444444"/>
                </a:solidFill>
              </a:defRPr>
            </a:pPr>
            <a:r>
              <a:t>companies</a:t>
            </a:r>
          </a:p>
        </p:txBody>
      </p:sp>
      <p:sp>
        <p:nvSpPr>
          <p:cNvPr id="17" name="Rectangle 16"/>
          <p:cNvSpPr/>
          <p:nvPr/>
        </p:nvSpPr>
        <p:spPr>
          <a:xfrm>
            <a:off x="609600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0" y="548640"/>
            <a:ext cx="1386840" cy="411480"/>
          </a:xfrm>
          <a:prstGeom prst="rect">
            <a:avLst/>
          </a:prstGeom>
          <a:noFill/>
        </p:spPr>
        <p:txBody>
          <a:bodyPr wrap="none">
            <a:spAutoFit/>
          </a:bodyPr>
          <a:lstStyle/>
          <a:p>
            <a:pPr algn="ctr">
              <a:defRPr sz="2800" b="1">
                <a:solidFill>
                  <a:srgbClr val="4A6CF7"/>
                </a:solidFill>
              </a:defRPr>
            </a:pPr>
            <a:r>
              <a:t>2</a:t>
            </a:r>
          </a:p>
        </p:txBody>
      </p:sp>
      <p:sp>
        <p:nvSpPr>
          <p:cNvPr id="19" name="TextBox 18"/>
          <p:cNvSpPr txBox="1"/>
          <p:nvPr/>
        </p:nvSpPr>
        <p:spPr>
          <a:xfrm>
            <a:off x="6096000" y="868680"/>
            <a:ext cx="1386840" cy="228600"/>
          </a:xfrm>
          <a:prstGeom prst="rect">
            <a:avLst/>
          </a:prstGeom>
          <a:noFill/>
        </p:spPr>
        <p:txBody>
          <a:bodyPr wrap="none">
            <a:spAutoFit/>
          </a:bodyPr>
          <a:lstStyle/>
          <a:p>
            <a:pPr algn="ctr">
              <a:defRPr sz="1000">
                <a:solidFill>
                  <a:srgbClr val="444444"/>
                </a:solidFill>
              </a:defRPr>
            </a:pPr>
            <a:r>
              <a:t>LLM providers</a:t>
            </a:r>
          </a:p>
        </p:txBody>
      </p:sp>
      <p:sp>
        <p:nvSpPr>
          <p:cNvPr id="20" name="Rectangle 19"/>
          <p:cNvSpPr/>
          <p:nvPr/>
        </p:nvSpPr>
        <p:spPr>
          <a:xfrm>
            <a:off x="7574280" y="502920"/>
            <a:ext cx="138684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74280" y="548640"/>
            <a:ext cx="1386840" cy="411480"/>
          </a:xfrm>
          <a:prstGeom prst="rect">
            <a:avLst/>
          </a:prstGeom>
          <a:noFill/>
        </p:spPr>
        <p:txBody>
          <a:bodyPr wrap="none">
            <a:spAutoFit/>
          </a:bodyPr>
          <a:lstStyle/>
          <a:p>
            <a:pPr algn="ctr">
              <a:defRPr sz="2800" b="1">
                <a:solidFill>
                  <a:srgbClr val="4A6CF7"/>
                </a:solidFill>
              </a:defRPr>
            </a:pPr>
            <a:r>
              <a:t>3</a:t>
            </a:r>
          </a:p>
        </p:txBody>
      </p:sp>
      <p:sp>
        <p:nvSpPr>
          <p:cNvPr id="22" name="TextBox 21"/>
          <p:cNvSpPr txBox="1"/>
          <p:nvPr/>
        </p:nvSpPr>
        <p:spPr>
          <a:xfrm>
            <a:off x="7574280" y="868680"/>
            <a:ext cx="1386840" cy="228600"/>
          </a:xfrm>
          <a:prstGeom prst="rect">
            <a:avLst/>
          </a:prstGeom>
          <a:noFill/>
        </p:spPr>
        <p:txBody>
          <a:bodyPr wrap="none">
            <a:spAutoFit/>
          </a:bodyPr>
          <a:lstStyle/>
          <a:p>
            <a:pPr algn="ctr">
              <a:defRPr sz="1000">
                <a:solidFill>
                  <a:srgbClr val="444444"/>
                </a:solidFill>
              </a:defRPr>
            </a:pPr>
            <a:r>
              <a:t>test queries</a:t>
            </a:r>
          </a:p>
        </p:txBody>
      </p:sp>
      <p:sp>
        <p:nvSpPr>
          <p:cNvPr id="23" name="Rectangle 22"/>
          <p:cNvSpPr/>
          <p:nvPr/>
        </p:nvSpPr>
        <p:spPr>
          <a:xfrm>
            <a:off x="182880" y="1680210"/>
            <a:ext cx="4343400" cy="1645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1680210"/>
            <a:ext cx="54864" cy="164592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1735074"/>
            <a:ext cx="4160520" cy="228600"/>
          </a:xfrm>
          <a:prstGeom prst="rect">
            <a:avLst/>
          </a:prstGeom>
          <a:noFill/>
        </p:spPr>
        <p:txBody>
          <a:bodyPr wrap="none">
            <a:spAutoFit/>
          </a:bodyPr>
          <a:lstStyle/>
          <a:p>
            <a:pPr>
              <a:defRPr sz="1400" b="1">
                <a:solidFill>
                  <a:srgbClr val="1A1A1A"/>
                </a:solidFill>
              </a:defRPr>
            </a:pPr>
            <a:r>
              <a:t>Verification method</a:t>
            </a:r>
          </a:p>
        </p:txBody>
      </p:sp>
      <p:sp>
        <p:nvSpPr>
          <p:cNvPr id="26" name="TextBox 25"/>
          <p:cNvSpPr txBox="1"/>
          <p:nvPr/>
        </p:nvSpPr>
        <p:spPr>
          <a:xfrm>
            <a:off x="320040" y="1972818"/>
            <a:ext cx="4160520" cy="1234440"/>
          </a:xfrm>
          <a:prstGeom prst="rect">
            <a:avLst/>
          </a:prstGeom>
          <a:noFill/>
        </p:spPr>
        <p:txBody>
          <a:bodyPr wrap="square">
            <a:spAutoFit/>
          </a:bodyPr>
          <a:lstStyle/>
          <a:p>
            <a:pPr>
              <a:spcAft>
                <a:spcPts val="100"/>
              </a:spcAft>
              <a:defRPr sz="1000">
                <a:solidFill>
                  <a:srgbClr val="444444"/>
                </a:solidFill>
              </a:defRPr>
            </a:pPr>
            <a:r>
              <a:t xml:space="preserve">  Ran all 3 assessment example questions</a:t>
            </a:r>
          </a:p>
          <a:p>
            <a:pPr>
              <a:spcAft>
                <a:spcPts val="100"/>
              </a:spcAft>
              <a:defRPr sz="1000">
                <a:solidFill>
                  <a:srgbClr val="444444"/>
                </a:solidFill>
              </a:defRPr>
            </a:pPr>
            <a:r>
              <a:t xml:space="preserve">  Tested on both Claude Sonnet 4.6 and GPT-4o</a:t>
            </a:r>
          </a:p>
          <a:p>
            <a:pPr>
              <a:spcAft>
                <a:spcPts val="100"/>
              </a:spcAft>
              <a:defRPr sz="1000">
                <a:solidFill>
                  <a:srgbClr val="444444"/>
                </a:solidFill>
              </a:defRPr>
            </a:pPr>
            <a:r>
              <a:t xml:space="preserve">  Identical pipeline  -  same chunks, same prompt template</a:t>
            </a:r>
          </a:p>
          <a:p>
            <a:pPr>
              <a:spcAft>
                <a:spcPts val="100"/>
              </a:spcAft>
              <a:defRPr sz="1000">
                <a:solidFill>
                  <a:srgbClr val="444444"/>
                </a:solidFill>
              </a:defRPr>
            </a:pPr>
            <a:r>
              <a:t xml:space="preserve">  Grepped every quoted phrase against raw filing .txt files</a:t>
            </a:r>
          </a:p>
          <a:p>
            <a:pPr>
              <a:spcAft>
                <a:spcPts val="100"/>
              </a:spcAft>
              <a:defRPr sz="1000">
                <a:solidFill>
                  <a:srgbClr val="444444"/>
                </a:solidFill>
              </a:defRPr>
            </a:pPr>
            <a:r>
              <a:t xml:space="preserve">  Traced every number, date, and % to specific corpus line</a:t>
            </a:r>
          </a:p>
          <a:p>
            <a:pPr>
              <a:spcAft>
                <a:spcPts val="100"/>
              </a:spcAft>
              <a:defRPr sz="1000">
                <a:solidFill>
                  <a:srgbClr val="444444"/>
                </a:solidFill>
              </a:defRPr>
            </a:pPr>
            <a:r>
              <a:t xml:space="preserve">  Documented: docs/prompt_tests/claude/ and openai/</a:t>
            </a:r>
          </a:p>
        </p:txBody>
      </p:sp>
      <p:sp>
        <p:nvSpPr>
          <p:cNvPr id="27" name="Rectangle 26"/>
          <p:cNvSpPr/>
          <p:nvPr/>
        </p:nvSpPr>
        <p:spPr>
          <a:xfrm>
            <a:off x="4617720" y="1680210"/>
            <a:ext cx="4343400" cy="1645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17720" y="168021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1735074"/>
            <a:ext cx="4160520" cy="228600"/>
          </a:xfrm>
          <a:prstGeom prst="rect">
            <a:avLst/>
          </a:prstGeom>
          <a:noFill/>
        </p:spPr>
        <p:txBody>
          <a:bodyPr wrap="none">
            <a:spAutoFit/>
          </a:bodyPr>
          <a:lstStyle/>
          <a:p>
            <a:pPr>
              <a:defRPr sz="1400" b="1">
                <a:solidFill>
                  <a:srgbClr val="1A1A1A"/>
                </a:solidFill>
              </a:defRPr>
            </a:pPr>
            <a:r>
              <a:t>What I measured</a:t>
            </a:r>
          </a:p>
        </p:txBody>
      </p:sp>
      <p:sp>
        <p:nvSpPr>
          <p:cNvPr id="30" name="TextBox 29"/>
          <p:cNvSpPr txBox="1"/>
          <p:nvPr/>
        </p:nvSpPr>
        <p:spPr>
          <a:xfrm>
            <a:off x="4754880" y="1972818"/>
            <a:ext cx="4160520" cy="1234440"/>
          </a:xfrm>
          <a:prstGeom prst="rect">
            <a:avLst/>
          </a:prstGeom>
          <a:noFill/>
        </p:spPr>
        <p:txBody>
          <a:bodyPr wrap="square">
            <a:spAutoFit/>
          </a:bodyPr>
          <a:lstStyle/>
          <a:p>
            <a:pPr>
              <a:spcAft>
                <a:spcPts val="100"/>
              </a:spcAft>
              <a:defRPr sz="1000">
                <a:solidFill>
                  <a:srgbClr val="444444"/>
                </a:solidFill>
              </a:defRPr>
            </a:pPr>
            <a:r>
              <a:t xml:space="preserve">  Grounding: does every claim exist in provided chunks?</a:t>
            </a:r>
          </a:p>
          <a:p>
            <a:pPr>
              <a:spcAft>
                <a:spcPts val="100"/>
              </a:spcAft>
              <a:defRPr sz="1000">
                <a:solidFill>
                  <a:srgbClr val="444444"/>
                </a:solidFill>
              </a:defRPr>
            </a:pPr>
            <a:r>
              <a:t xml:space="preserve">  Citation accuracy: are filing type, date, section correct?</a:t>
            </a:r>
          </a:p>
          <a:p>
            <a:pPr>
              <a:spcAft>
                <a:spcPts val="100"/>
              </a:spcAft>
              <a:defRPr sz="1000">
                <a:solidFill>
                  <a:srgbClr val="444444"/>
                </a:solidFill>
              </a:defRPr>
            </a:pPr>
            <a:r>
              <a:t xml:space="preserve">  Coverage: are all queried companies represented?</a:t>
            </a:r>
          </a:p>
          <a:p>
            <a:pPr>
              <a:spcAft>
                <a:spcPts val="100"/>
              </a:spcAft>
              <a:defRPr sz="1000">
                <a:solidFill>
                  <a:srgbClr val="444444"/>
                </a:solidFill>
              </a:defRPr>
            </a:pPr>
            <a:r>
              <a:t xml:space="preserve">  Specificity: named products/drugs vs generic references?</a:t>
            </a:r>
          </a:p>
          <a:p>
            <a:pPr>
              <a:spcAft>
                <a:spcPts val="100"/>
              </a:spcAft>
              <a:defRPr sz="1000">
                <a:solidFill>
                  <a:srgbClr val="444444"/>
                </a:solidFill>
              </a:defRPr>
            </a:pPr>
            <a:r>
              <a:t xml:space="preserve">  Temporal: correct fiscal year range covered?</a:t>
            </a:r>
          </a:p>
          <a:p>
            <a:pPr>
              <a:spcAft>
                <a:spcPts val="100"/>
              </a:spcAft>
              <a:defRPr sz="1000">
                <a:solidFill>
                  <a:srgbClr val="444444"/>
                </a:solidFill>
              </a:defRPr>
            </a:pPr>
            <a:r>
              <a:t xml:space="preserve">  Consistency: same query, different model  -  same facts?</a:t>
            </a:r>
          </a:p>
        </p:txBody>
      </p:sp>
      <p:sp>
        <p:nvSpPr>
          <p:cNvPr id="31" name="Rectangle 30"/>
          <p:cNvSpPr/>
          <p:nvPr/>
        </p:nvSpPr>
        <p:spPr>
          <a:xfrm>
            <a:off x="182880" y="3726180"/>
            <a:ext cx="8778240" cy="132588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2880" y="3726180"/>
            <a:ext cx="54864" cy="132588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3781044"/>
            <a:ext cx="8503920" cy="1234440"/>
          </a:xfrm>
          <a:prstGeom prst="rect">
            <a:avLst/>
          </a:prstGeom>
          <a:noFill/>
        </p:spPr>
        <p:txBody>
          <a:bodyPr wrap="square">
            <a:spAutoFit/>
          </a:bodyPr>
          <a:lstStyle/>
          <a:p>
            <a:pPr>
              <a:spcAft>
                <a:spcPts val="100"/>
              </a:spcAft>
              <a:defRPr sz="1100" b="1">
                <a:solidFill>
                  <a:srgbClr val="1A1A1A"/>
                </a:solidFill>
              </a:defRPr>
            </a:pPr>
            <a:r>
              <a:t>Pipeline validation (automated during index build)</a:t>
            </a:r>
          </a:p>
          <a:p>
            <a:pPr>
              <a:spcAft>
                <a:spcPts val="100"/>
              </a:spcAft>
              <a:defRPr sz="1000">
                <a:solidFill>
                  <a:srgbClr val="444444"/>
                </a:solidFill>
              </a:defRPr>
            </a:pPr>
            <a:r>
              <a:t>246/246 files parsed (100%)  |  6,038 -&gt; 3,001 sections (merge dedup, 100% content retained)  |  13,953 chunks  |  Token range: 30-1,501  |  0 XBRL contamination  |  All 18 metadata fields populated  |  Cosine similarity ranking verified semantically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800" b="1">
                <a:solidFill>
                  <a:srgbClr val="FFFFFF"/>
                </a:solidFill>
              </a:defRPr>
            </a:pPr>
            <a:r>
              <a:t>PRODUCTION ROADMAP</a:t>
            </a:r>
          </a:p>
        </p:txBody>
      </p:sp>
      <p:sp>
        <p:nvSpPr>
          <p:cNvPr id="4" name="TextBox 3"/>
          <p:cNvSpPr txBox="1"/>
          <p:nvPr/>
        </p:nvSpPr>
        <p:spPr>
          <a:xfrm>
            <a:off x="5486400" y="9144"/>
            <a:ext cx="3429000" cy="329184"/>
          </a:xfrm>
          <a:prstGeom prst="rect">
            <a:avLst/>
          </a:prstGeom>
          <a:noFill/>
        </p:spPr>
        <p:txBody>
          <a:bodyPr wrap="none">
            <a:spAutoFit/>
          </a:bodyPr>
          <a:lstStyle/>
          <a:p>
            <a:pPr algn="r">
              <a:defRPr sz="1050">
                <a:solidFill>
                  <a:srgbClr val="888888"/>
                </a:solidFill>
              </a:defRPr>
            </a:pPr>
            <a:r>
              <a:t>what I'd build next for a client</a:t>
            </a:r>
          </a:p>
        </p:txBody>
      </p:sp>
      <p:graphicFrame>
        <p:nvGraphicFramePr>
          <p:cNvPr id="5" name="Table 4"/>
          <p:cNvGraphicFramePr>
            <a:graphicFrameLocks noGrp="1"/>
          </p:cNvGraphicFramePr>
          <p:nvPr/>
        </p:nvGraphicFramePr>
        <p:xfrm>
          <a:off x="182880" y="457200"/>
          <a:ext cx="8778240" cy="2651760"/>
        </p:xfrm>
        <a:graphic>
          <a:graphicData uri="http://schemas.openxmlformats.org/drawingml/2006/table">
            <a:tbl>
              <a:tblPr firstRow="1" bandRow="1">
                <a:tableStyleId>{5C22544A-7EE6-4342-B048-85BDC9FD1C3A}</a:tableStyleId>
              </a:tblPr>
              <a:tblGrid>
                <a:gridCol w="2194560"/>
                <a:gridCol w="2377440"/>
                <a:gridCol w="2834640"/>
                <a:gridCol w="1371600"/>
              </a:tblGrid>
              <a:tr h="331470">
                <a:tc>
                  <a:txBody>
                    <a:bodyPr/>
                    <a:lstStyle/>
                    <a:p>
                      <a:pPr>
                        <a:defRPr sz="1050" b="1">
                          <a:solidFill>
                            <a:srgbClr val="FFFFFF"/>
                          </a:solidFill>
                        </a:defRPr>
                      </a:pPr>
                      <a:r>
                        <a:t>Feature</a:t>
                      </a:r>
                    </a:p>
                  </a:txBody>
                  <a:tcPr>
                    <a:solidFill>
                      <a:srgbClr val="1A1A1A"/>
                    </a:solidFill>
                  </a:tcPr>
                </a:tc>
                <a:tc>
                  <a:txBody>
                    <a:bodyPr/>
                    <a:lstStyle/>
                    <a:p>
                      <a:pPr>
                        <a:defRPr sz="1050" b="1">
                          <a:solidFill>
                            <a:srgbClr val="FFFFFF"/>
                          </a:solidFill>
                        </a:defRPr>
                      </a:pPr>
                      <a:r>
                        <a:t>What I Built</a:t>
                      </a:r>
                    </a:p>
                  </a:txBody>
                  <a:tcPr>
                    <a:solidFill>
                      <a:srgbClr val="1A1A1A"/>
                    </a:solidFill>
                  </a:tcPr>
                </a:tc>
                <a:tc>
                  <a:txBody>
                    <a:bodyPr/>
                    <a:lstStyle/>
                    <a:p>
                      <a:pPr>
                        <a:defRPr sz="1050" b="1">
                          <a:solidFill>
                            <a:srgbClr val="FFFFFF"/>
                          </a:solidFill>
                        </a:defRPr>
                      </a:pPr>
                      <a:r>
                        <a:t>Production Upgrade</a:t>
                      </a:r>
                    </a:p>
                  </a:txBody>
                  <a:tcPr>
                    <a:solidFill>
                      <a:srgbClr val="1A1A1A"/>
                    </a:solidFill>
                  </a:tcPr>
                </a:tc>
                <a:tc>
                  <a:txBody>
                    <a:bodyPr/>
                    <a:lstStyle/>
                    <a:p>
                      <a:pPr>
                        <a:defRPr sz="1050" b="1">
                          <a:solidFill>
                            <a:srgbClr val="FFFFFF"/>
                          </a:solidFill>
                        </a:defRPr>
                      </a:pPr>
                      <a:r>
                        <a:t>Effort</a:t>
                      </a:r>
                    </a:p>
                  </a:txBody>
                  <a:tcPr>
                    <a:solidFill>
                      <a:srgbClr val="1A1A1A"/>
                    </a:solidFill>
                  </a:tcPr>
                </a:tc>
              </a:tr>
              <a:tr h="331470">
                <a:tc>
                  <a:txBody>
                    <a:bodyPr/>
                    <a:lstStyle/>
                    <a:p>
                      <a:pPr>
                        <a:defRPr sz="1050">
                          <a:solidFill>
                            <a:srgbClr val="444444"/>
                          </a:solidFill>
                        </a:defRPr>
                      </a:pPr>
                      <a:r>
                        <a:t>Vector store</a:t>
                      </a:r>
                    </a:p>
                  </a:txBody>
                  <a:tcPr/>
                </a:tc>
                <a:tc>
                  <a:txBody>
                    <a:bodyPr/>
                    <a:lstStyle/>
                    <a:p>
                      <a:pPr>
                        <a:defRPr sz="1050">
                          <a:solidFill>
                            <a:srgbClr val="444444"/>
                          </a:solidFill>
                        </a:defRPr>
                      </a:pPr>
                      <a:r>
                        <a:t>ChromaDB (local, 530MB)</a:t>
                      </a:r>
                    </a:p>
                  </a:txBody>
                  <a:tcPr/>
                </a:tc>
                <a:tc>
                  <a:txBody>
                    <a:bodyPr/>
                    <a:lstStyle/>
                    <a:p>
                      <a:pPr>
                        <a:defRPr sz="1050">
                          <a:solidFill>
                            <a:srgbClr val="444444"/>
                          </a:solidFill>
                        </a:defRPr>
                      </a:pPr>
                      <a:r>
                        <a:t>pgvector or Pinecone</a:t>
                      </a:r>
                    </a:p>
                  </a:txBody>
                  <a:tcPr/>
                </a:tc>
                <a:tc>
                  <a:txBody>
                    <a:bodyPr/>
                    <a:lstStyle/>
                    <a:p>
                      <a:pPr>
                        <a:defRPr sz="1050">
                          <a:solidFill>
                            <a:srgbClr val="444444"/>
                          </a:solidFill>
                        </a:defRPr>
                      </a:pPr>
                      <a:r>
                        <a:t>1 day</a:t>
                      </a:r>
                    </a:p>
                  </a:txBody>
                  <a:tcPr/>
                </a:tc>
              </a:tr>
              <a:tr h="331470">
                <a:tc>
                  <a:txBody>
                    <a:bodyPr/>
                    <a:lstStyle/>
                    <a:p>
                      <a:pPr>
                        <a:defRPr sz="1050">
                          <a:solidFill>
                            <a:srgbClr val="444444"/>
                          </a:solidFill>
                        </a:defRPr>
                      </a:pPr>
                      <a:r>
                        <a:t>Search</a:t>
                      </a:r>
                    </a:p>
                  </a:txBody>
                  <a:tcPr/>
                </a:tc>
                <a:tc>
                  <a:txBody>
                    <a:bodyPr/>
                    <a:lstStyle/>
                    <a:p>
                      <a:pPr>
                        <a:defRPr sz="1050">
                          <a:solidFill>
                            <a:srgbClr val="444444"/>
                          </a:solidFill>
                        </a:defRPr>
                      </a:pPr>
                      <a:r>
                        <a:t>100% semantic + metadata</a:t>
                      </a:r>
                    </a:p>
                  </a:txBody>
                  <a:tcPr/>
                </a:tc>
                <a:tc>
                  <a:txBody>
                    <a:bodyPr/>
                    <a:lstStyle/>
                    <a:p>
                      <a:pPr>
                        <a:defRPr sz="1050">
                          <a:solidFill>
                            <a:srgbClr val="444444"/>
                          </a:solidFill>
                        </a:defRPr>
                      </a:pPr>
                      <a:r>
                        <a:t>Hybrid: + BM25 + RRF reranking</a:t>
                      </a:r>
                    </a:p>
                  </a:txBody>
                  <a:tcPr/>
                </a:tc>
                <a:tc>
                  <a:txBody>
                    <a:bodyPr/>
                    <a:lstStyle/>
                    <a:p>
                      <a:pPr>
                        <a:defRPr sz="1050">
                          <a:solidFill>
                            <a:srgbClr val="444444"/>
                          </a:solidFill>
                        </a:defRPr>
                      </a:pPr>
                      <a:r>
                        <a:t>1-2 days</a:t>
                      </a:r>
                    </a:p>
                  </a:txBody>
                  <a:tcPr/>
                </a:tc>
              </a:tr>
              <a:tr h="331470">
                <a:tc>
                  <a:txBody>
                    <a:bodyPr/>
                    <a:lstStyle/>
                    <a:p>
                      <a:pPr>
                        <a:defRPr sz="1050">
                          <a:solidFill>
                            <a:srgbClr val="444444"/>
                          </a:solidFill>
                        </a:defRPr>
                      </a:pPr>
                      <a:r>
                        <a:t>Ingestion</a:t>
                      </a:r>
                    </a:p>
                  </a:txBody>
                  <a:tcPr/>
                </a:tc>
                <a:tc>
                  <a:txBody>
                    <a:bodyPr/>
                    <a:lstStyle/>
                    <a:p>
                      <a:pPr>
                        <a:defRPr sz="1050">
                          <a:solidFill>
                            <a:srgbClr val="444444"/>
                          </a:solidFill>
                        </a:defRPr>
                      </a:pPr>
                      <a:r>
                        <a:t>Batch rebuild (5 min)</a:t>
                      </a:r>
                    </a:p>
                  </a:txBody>
                  <a:tcPr/>
                </a:tc>
                <a:tc>
                  <a:txBody>
                    <a:bodyPr/>
                    <a:lstStyle/>
                    <a:p>
                      <a:pPr>
                        <a:defRPr sz="1050">
                          <a:solidFill>
                            <a:srgbClr val="444444"/>
                          </a:solidFill>
                        </a:defRPr>
                      </a:pPr>
                      <a:r>
                        <a:t>Incremental via cron / RSS</a:t>
                      </a:r>
                    </a:p>
                  </a:txBody>
                  <a:tcPr/>
                </a:tc>
                <a:tc>
                  <a:txBody>
                    <a:bodyPr/>
                    <a:lstStyle/>
                    <a:p>
                      <a:pPr>
                        <a:defRPr sz="1050">
                          <a:solidFill>
                            <a:srgbClr val="444444"/>
                          </a:solidFill>
                        </a:defRPr>
                      </a:pPr>
                      <a:r>
                        <a:t>1-2 days</a:t>
                      </a:r>
                    </a:p>
                  </a:txBody>
                  <a:tcPr/>
                </a:tc>
              </a:tr>
              <a:tr h="331470">
                <a:tc>
                  <a:txBody>
                    <a:bodyPr/>
                    <a:lstStyle/>
                    <a:p>
                      <a:pPr>
                        <a:defRPr sz="1050">
                          <a:solidFill>
                            <a:srgbClr val="444444"/>
                          </a:solidFill>
                        </a:defRPr>
                      </a:pPr>
                      <a:r>
                        <a:t>Deployment</a:t>
                      </a:r>
                    </a:p>
                  </a:txBody>
                  <a:tcPr/>
                </a:tc>
                <a:tc>
                  <a:txBody>
                    <a:bodyPr/>
                    <a:lstStyle/>
                    <a:p>
                      <a:pPr>
                        <a:defRPr sz="1050">
                          <a:solidFill>
                            <a:srgbClr val="444444"/>
                          </a:solidFill>
                        </a:defRPr>
                      </a:pPr>
                      <a:r>
                        <a:t>setup.sh + run.sh</a:t>
                      </a:r>
                    </a:p>
                  </a:txBody>
                  <a:tcPr/>
                </a:tc>
                <a:tc>
                  <a:txBody>
                    <a:bodyPr/>
                    <a:lstStyle/>
                    <a:p>
                      <a:pPr>
                        <a:defRPr sz="1050">
                          <a:solidFill>
                            <a:srgbClr val="444444"/>
                          </a:solidFill>
                        </a:defRPr>
                      </a:pPr>
                      <a:r>
                        <a:t>Docker + cloud deploy (AWS/GCP)</a:t>
                      </a:r>
                    </a:p>
                  </a:txBody>
                  <a:tcPr/>
                </a:tc>
                <a:tc>
                  <a:txBody>
                    <a:bodyPr/>
                    <a:lstStyle/>
                    <a:p>
                      <a:pPr>
                        <a:defRPr sz="1050">
                          <a:solidFill>
                            <a:srgbClr val="444444"/>
                          </a:solidFill>
                        </a:defRPr>
                      </a:pPr>
                      <a:r>
                        <a:t>1 day</a:t>
                      </a:r>
                    </a:p>
                  </a:txBody>
                  <a:tcPr/>
                </a:tc>
              </a:tr>
              <a:tr h="331470">
                <a:tc>
                  <a:txBody>
                    <a:bodyPr/>
                    <a:lstStyle/>
                    <a:p>
                      <a:pPr>
                        <a:defRPr sz="1050">
                          <a:solidFill>
                            <a:srgbClr val="444444"/>
                          </a:solidFill>
                        </a:defRPr>
                      </a:pPr>
                      <a:r>
                        <a:t>Auth</a:t>
                      </a:r>
                    </a:p>
                  </a:txBody>
                  <a:tcPr/>
                </a:tc>
                <a:tc>
                  <a:txBody>
                    <a:bodyPr/>
                    <a:lstStyle/>
                    <a:p>
                      <a:pPr>
                        <a:defRPr sz="1050">
                          <a:solidFill>
                            <a:srgbClr val="444444"/>
                          </a:solidFill>
                        </a:defRPr>
                      </a:pPr>
                      <a:r>
                        <a:t>5 demo roles (RBAC)</a:t>
                      </a:r>
                    </a:p>
                  </a:txBody>
                  <a:tcPr/>
                </a:tc>
                <a:tc>
                  <a:txBody>
                    <a:bodyPr/>
                    <a:lstStyle/>
                    <a:p>
                      <a:pPr>
                        <a:defRPr sz="1050">
                          <a:solidFill>
                            <a:srgbClr val="444444"/>
                          </a:solidFill>
                        </a:defRPr>
                      </a:pPr>
                      <a:r>
                        <a:t>SSO / OAuth / LDAP integration</a:t>
                      </a:r>
                    </a:p>
                  </a:txBody>
                  <a:tcPr/>
                </a:tc>
                <a:tc>
                  <a:txBody>
                    <a:bodyPr/>
                    <a:lstStyle/>
                    <a:p>
                      <a:pPr>
                        <a:defRPr sz="1050">
                          <a:solidFill>
                            <a:srgbClr val="444444"/>
                          </a:solidFill>
                        </a:defRPr>
                      </a:pPr>
                      <a:r>
                        <a:t>2-3 days</a:t>
                      </a:r>
                    </a:p>
                  </a:txBody>
                  <a:tcPr/>
                </a:tc>
              </a:tr>
              <a:tr h="331470">
                <a:tc>
                  <a:txBody>
                    <a:bodyPr/>
                    <a:lstStyle/>
                    <a:p>
                      <a:pPr>
                        <a:defRPr sz="1050">
                          <a:solidFill>
                            <a:srgbClr val="444444"/>
                          </a:solidFill>
                        </a:defRPr>
                      </a:pPr>
                      <a:r>
                        <a:t>Monitoring</a:t>
                      </a:r>
                    </a:p>
                  </a:txBody>
                  <a:tcPr/>
                </a:tc>
                <a:tc>
                  <a:txBody>
                    <a:bodyPr/>
                    <a:lstStyle/>
                    <a:p>
                      <a:pPr>
                        <a:defRPr sz="1050">
                          <a:solidFill>
                            <a:srgbClr val="444444"/>
                          </a:solidFill>
                        </a:defRPr>
                      </a:pPr>
                      <a:r>
                        <a:t>SQLite audit log</a:t>
                      </a:r>
                    </a:p>
                  </a:txBody>
                  <a:tcPr/>
                </a:tc>
                <a:tc>
                  <a:txBody>
                    <a:bodyPr/>
                    <a:lstStyle/>
                    <a:p>
                      <a:pPr>
                        <a:defRPr sz="1050">
                          <a:solidFill>
                            <a:srgbClr val="444444"/>
                          </a:solidFill>
                        </a:defRPr>
                      </a:pPr>
                      <a:r>
                        <a:t>Postgres -&gt; Grafana / Datadog</a:t>
                      </a:r>
                    </a:p>
                  </a:txBody>
                  <a:tcPr/>
                </a:tc>
                <a:tc>
                  <a:txBody>
                    <a:bodyPr/>
                    <a:lstStyle/>
                    <a:p>
                      <a:pPr>
                        <a:defRPr sz="1050">
                          <a:solidFill>
                            <a:srgbClr val="444444"/>
                          </a:solidFill>
                        </a:defRPr>
                      </a:pPr>
                      <a:r>
                        <a:t>1-2 days</a:t>
                      </a:r>
                    </a:p>
                  </a:txBody>
                  <a:tcPr/>
                </a:tc>
              </a:tr>
              <a:tr h="331470">
                <a:tc>
                  <a:txBody>
                    <a:bodyPr/>
                    <a:lstStyle/>
                    <a:p>
                      <a:pPr>
                        <a:defRPr sz="1050">
                          <a:solidFill>
                            <a:srgbClr val="444444"/>
                          </a:solidFill>
                        </a:defRPr>
                      </a:pPr>
                      <a:r>
                        <a:t>Conversation</a:t>
                      </a:r>
                    </a:p>
                  </a:txBody>
                  <a:tcPr/>
                </a:tc>
                <a:tc>
                  <a:txBody>
                    <a:bodyPr/>
                    <a:lstStyle/>
                    <a:p>
                      <a:pPr>
                        <a:defRPr sz="1050">
                          <a:solidFill>
                            <a:srgbClr val="444444"/>
                          </a:solidFill>
                        </a:defRPr>
                      </a:pPr>
                      <a:r>
                        <a:t>Stateless (single call)</a:t>
                      </a:r>
                    </a:p>
                  </a:txBody>
                  <a:tcPr/>
                </a:tc>
                <a:tc>
                  <a:txBody>
                    <a:bodyPr/>
                    <a:lstStyle/>
                    <a:p>
                      <a:pPr>
                        <a:defRPr sz="1050">
                          <a:solidFill>
                            <a:srgbClr val="444444"/>
                          </a:solidFill>
                        </a:defRPr>
                      </a:pPr>
                      <a:r>
                        <a:t>Session memory + follow-ups</a:t>
                      </a:r>
                    </a:p>
                  </a:txBody>
                  <a:tcPr/>
                </a:tc>
                <a:tc>
                  <a:txBody>
                    <a:bodyPr/>
                    <a:lstStyle/>
                    <a:p>
                      <a:pPr>
                        <a:defRPr sz="1050">
                          <a:solidFill>
                            <a:srgbClr val="444444"/>
                          </a:solidFill>
                        </a:defRPr>
                      </a:pPr>
                      <a:r>
                        <a:t>1 day</a:t>
                      </a:r>
                    </a:p>
                  </a:txBody>
                  <a:tcPr/>
                </a:tc>
              </a:tr>
            </a:tbl>
          </a:graphicData>
        </a:graphic>
      </p:graphicFrame>
      <p:sp>
        <p:nvSpPr>
          <p:cNvPr id="6" name="Rectangle 5"/>
          <p:cNvSpPr/>
          <p:nvPr/>
        </p:nvSpPr>
        <p:spPr>
          <a:xfrm>
            <a:off x="182880" y="3200400"/>
            <a:ext cx="8778240" cy="11887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3200400"/>
            <a:ext cx="54864" cy="1188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255264"/>
            <a:ext cx="8503920" cy="1097280"/>
          </a:xfrm>
          <a:prstGeom prst="rect">
            <a:avLst/>
          </a:prstGeom>
          <a:noFill/>
        </p:spPr>
        <p:txBody>
          <a:bodyPr wrap="square">
            <a:spAutoFit/>
          </a:bodyPr>
          <a:lstStyle/>
          <a:p>
            <a:pPr>
              <a:spcAft>
                <a:spcPts val="100"/>
              </a:spcAft>
              <a:defRPr sz="1050" b="1">
                <a:solidFill>
                  <a:srgbClr val="1A1A1A"/>
                </a:solidFill>
              </a:defRPr>
            </a:pPr>
            <a:r>
              <a:t>All upgrades are additive  -  zero refactoring of the core pipeline.</a:t>
            </a:r>
          </a:p>
          <a:p>
            <a:pPr>
              <a:spcAft>
                <a:spcPts val="100"/>
              </a:spcAft>
              <a:defRPr sz="1000">
                <a:solidFill>
                  <a:srgbClr val="444444"/>
                </a:solidFill>
              </a:defRPr>
            </a:pPr>
            <a:r>
              <a:t>The architecture separates concerns by design: preprocessing, retrieval, and presentation are independent layers. Swapping ChromaDB for pgvector changes one file. Adding BM25 adds one module. A Forge sprint is 6 weeks  -  these upgrades total ~1-2 weeks, leaving 4 weeks for client-specific logic. First priority: Docker (setup friction) and incremental ingestion (daily data changes).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0005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
            <a:ext cx="4572000" cy="329184"/>
          </a:xfrm>
          <a:prstGeom prst="rect">
            <a:avLst/>
          </a:prstGeom>
          <a:noFill/>
        </p:spPr>
        <p:txBody>
          <a:bodyPr wrap="none">
            <a:spAutoFit/>
          </a:bodyPr>
          <a:lstStyle/>
          <a:p>
            <a:pPr>
              <a:defRPr sz="1800" b="1">
                <a:solidFill>
                  <a:srgbClr val="FFFFFF"/>
                </a:solidFill>
              </a:defRPr>
            </a:pPr>
            <a:r>
              <a:t>ASSESSMENT DELIVERABLES</a:t>
            </a:r>
          </a:p>
        </p:txBody>
      </p:sp>
      <p:sp>
        <p:nvSpPr>
          <p:cNvPr id="4" name="TextBox 3"/>
          <p:cNvSpPr txBox="1"/>
          <p:nvPr/>
        </p:nvSpPr>
        <p:spPr>
          <a:xfrm>
            <a:off x="5486400" y="9144"/>
            <a:ext cx="3429000" cy="329184"/>
          </a:xfrm>
          <a:prstGeom prst="rect">
            <a:avLst/>
          </a:prstGeom>
          <a:noFill/>
        </p:spPr>
        <p:txBody>
          <a:bodyPr wrap="none">
            <a:spAutoFit/>
          </a:bodyPr>
          <a:lstStyle/>
          <a:p>
            <a:pPr algn="r">
              <a:defRPr sz="1100">
                <a:solidFill>
                  <a:srgbClr val="888888"/>
                </a:solidFill>
              </a:defRPr>
            </a:pPr>
            <a:r>
              <a:t>everything requested  -  delivered in ~4 hours</a:t>
            </a:r>
          </a:p>
        </p:txBody>
      </p:sp>
      <p:sp>
        <p:nvSpPr>
          <p:cNvPr id="5" name="Rectangle 4"/>
          <p:cNvSpPr/>
          <p:nvPr/>
        </p:nvSpPr>
        <p:spPr>
          <a:xfrm>
            <a:off x="182880" y="50292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50292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50292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530352"/>
            <a:ext cx="8503920" cy="182880"/>
          </a:xfrm>
          <a:prstGeom prst="rect">
            <a:avLst/>
          </a:prstGeom>
          <a:noFill/>
        </p:spPr>
        <p:txBody>
          <a:bodyPr wrap="none">
            <a:spAutoFit/>
          </a:bodyPr>
          <a:lstStyle/>
          <a:p>
            <a:pPr>
              <a:defRPr sz="1200" b="1">
                <a:solidFill>
                  <a:srgbClr val="1A1A1A"/>
                </a:solidFill>
              </a:defRPr>
            </a:pPr>
            <a:r>
              <a:t>README with setup and run instructions</a:t>
            </a:r>
          </a:p>
        </p:txBody>
      </p:sp>
      <p:sp>
        <p:nvSpPr>
          <p:cNvPr id="9" name="TextBox 8"/>
          <p:cNvSpPr txBox="1"/>
          <p:nvPr/>
        </p:nvSpPr>
        <p:spPr>
          <a:xfrm>
            <a:off x="320040" y="731520"/>
            <a:ext cx="8503920" cy="228600"/>
          </a:xfrm>
          <a:prstGeom prst="rect">
            <a:avLst/>
          </a:prstGeom>
          <a:noFill/>
        </p:spPr>
        <p:txBody>
          <a:bodyPr wrap="square">
            <a:spAutoFit/>
          </a:bodyPr>
          <a:lstStyle/>
          <a:p>
            <a:pPr>
              <a:defRPr sz="1000">
                <a:solidFill>
                  <a:srgbClr val="444444"/>
                </a:solidFill>
              </a:defRPr>
            </a:pPr>
            <a:r>
              <a:t>Step-by-step install, Web UI + CLI docs, Git LFS handling, tested results table</a:t>
            </a:r>
          </a:p>
        </p:txBody>
      </p:sp>
      <p:sp>
        <p:nvSpPr>
          <p:cNvPr id="10" name="Rectangle 9"/>
          <p:cNvSpPr/>
          <p:nvPr/>
        </p:nvSpPr>
        <p:spPr>
          <a:xfrm>
            <a:off x="182880" y="109728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109728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109728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124712"/>
            <a:ext cx="8503920" cy="182880"/>
          </a:xfrm>
          <a:prstGeom prst="rect">
            <a:avLst/>
          </a:prstGeom>
          <a:noFill/>
        </p:spPr>
        <p:txBody>
          <a:bodyPr wrap="none">
            <a:spAutoFit/>
          </a:bodyPr>
          <a:lstStyle/>
          <a:p>
            <a:pPr>
              <a:defRPr sz="1200" b="1">
                <a:solidFill>
                  <a:srgbClr val="1A1A1A"/>
                </a:solidFill>
              </a:defRPr>
            </a:pPr>
            <a:r>
              <a:t>Indexing and retrieval code</a:t>
            </a:r>
          </a:p>
        </p:txBody>
      </p:sp>
      <p:sp>
        <p:nvSpPr>
          <p:cNvPr id="14" name="TextBox 13"/>
          <p:cNvSpPr txBox="1"/>
          <p:nvPr/>
        </p:nvSpPr>
        <p:spPr>
          <a:xfrm>
            <a:off x="320040" y="1325880"/>
            <a:ext cx="8503920" cy="228600"/>
          </a:xfrm>
          <a:prstGeom prst="rect">
            <a:avLst/>
          </a:prstGeom>
          <a:noFill/>
        </p:spPr>
        <p:txBody>
          <a:bodyPr wrap="square">
            <a:spAutoFit/>
          </a:bodyPr>
          <a:lstStyle/>
          <a:p>
            <a:pPr>
              <a:defRPr sz="1000">
                <a:solidFill>
                  <a:srgbClr val="444444"/>
                </a:solidFill>
              </a:defRPr>
            </a:pPr>
            <a:r>
              <a:t>src/pipeline/ (preprocess, chunk, embed, index) + src/query/ (retrieve, prompt, LLM, RAG)</a:t>
            </a:r>
          </a:p>
        </p:txBody>
      </p:sp>
      <p:sp>
        <p:nvSpPr>
          <p:cNvPr id="15" name="Rectangle 14"/>
          <p:cNvSpPr/>
          <p:nvPr/>
        </p:nvSpPr>
        <p:spPr>
          <a:xfrm>
            <a:off x="182880" y="169164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169164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69164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1719072"/>
            <a:ext cx="8503920" cy="182880"/>
          </a:xfrm>
          <a:prstGeom prst="rect">
            <a:avLst/>
          </a:prstGeom>
          <a:noFill/>
        </p:spPr>
        <p:txBody>
          <a:bodyPr wrap="none">
            <a:spAutoFit/>
          </a:bodyPr>
          <a:lstStyle/>
          <a:p>
            <a:pPr>
              <a:defRPr sz="1200" b="1">
                <a:solidFill>
                  <a:srgbClr val="1A1A1A"/>
                </a:solidFill>
              </a:defRPr>
            </a:pPr>
            <a:r>
              <a:t>Log of prompt iterations</a:t>
            </a:r>
          </a:p>
        </p:txBody>
      </p:sp>
      <p:sp>
        <p:nvSpPr>
          <p:cNvPr id="19" name="TextBox 18"/>
          <p:cNvSpPr txBox="1"/>
          <p:nvPr/>
        </p:nvSpPr>
        <p:spPr>
          <a:xfrm>
            <a:off x="320040" y="1920240"/>
            <a:ext cx="8503920" cy="228600"/>
          </a:xfrm>
          <a:prstGeom prst="rect">
            <a:avLst/>
          </a:prstGeom>
          <a:noFill/>
        </p:spPr>
        <p:txBody>
          <a:bodyPr wrap="square">
            <a:spAutoFit/>
          </a:bodyPr>
          <a:lstStyle/>
          <a:p>
            <a:pPr>
              <a:defRPr sz="1000">
                <a:solidFill>
                  <a:srgbClr val="444444"/>
                </a:solidFill>
              </a:defRPr>
            </a:pPr>
            <a:r>
              <a:t>docs/prompt_tests/  -  Claude vs GPT-4o, full pipeline traces, verification against corpus</a:t>
            </a:r>
          </a:p>
        </p:txBody>
      </p:sp>
      <p:sp>
        <p:nvSpPr>
          <p:cNvPr id="20" name="Rectangle 19"/>
          <p:cNvSpPr/>
          <p:nvPr/>
        </p:nvSpPr>
        <p:spPr>
          <a:xfrm>
            <a:off x="182880" y="228600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28600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228600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2313432"/>
            <a:ext cx="8503920" cy="182880"/>
          </a:xfrm>
          <a:prstGeom prst="rect">
            <a:avLst/>
          </a:prstGeom>
          <a:noFill/>
        </p:spPr>
        <p:txBody>
          <a:bodyPr wrap="none">
            <a:spAutoFit/>
          </a:bodyPr>
          <a:lstStyle/>
          <a:p>
            <a:pPr>
              <a:defRPr sz="1200" b="1">
                <a:solidFill>
                  <a:srgbClr val="1A1A1A"/>
                </a:solidFill>
              </a:defRPr>
            </a:pPr>
            <a:r>
              <a:t>Final prompt template</a:t>
            </a:r>
          </a:p>
        </p:txBody>
      </p:sp>
      <p:sp>
        <p:nvSpPr>
          <p:cNvPr id="24" name="TextBox 23"/>
          <p:cNvSpPr txBox="1"/>
          <p:nvPr/>
        </p:nvSpPr>
        <p:spPr>
          <a:xfrm>
            <a:off x="320040" y="2514600"/>
            <a:ext cx="8503920" cy="228600"/>
          </a:xfrm>
          <a:prstGeom prst="rect">
            <a:avLst/>
          </a:prstGeom>
          <a:noFill/>
        </p:spPr>
        <p:txBody>
          <a:bodyPr wrap="square">
            <a:spAutoFit/>
          </a:bodyPr>
          <a:lstStyle/>
          <a:p>
            <a:pPr>
              <a:defRPr sz="1000">
                <a:solidFill>
                  <a:srgbClr val="444444"/>
                </a:solidFill>
              </a:defRPr>
            </a:pPr>
            <a:r>
              <a:t>src/query/prompt.py  -  grounding rules, citation format, style guidelines</a:t>
            </a:r>
          </a:p>
        </p:txBody>
      </p:sp>
      <p:sp>
        <p:nvSpPr>
          <p:cNvPr id="25" name="Rectangle 24"/>
          <p:cNvSpPr/>
          <p:nvPr/>
        </p:nvSpPr>
        <p:spPr>
          <a:xfrm>
            <a:off x="182880" y="288036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2880" y="288036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288036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2907792"/>
            <a:ext cx="8503920" cy="182880"/>
          </a:xfrm>
          <a:prstGeom prst="rect">
            <a:avLst/>
          </a:prstGeom>
          <a:noFill/>
        </p:spPr>
        <p:txBody>
          <a:bodyPr wrap="none">
            <a:spAutoFit/>
          </a:bodyPr>
          <a:lstStyle/>
          <a:p>
            <a:pPr>
              <a:defRPr sz="1200" b="1">
                <a:solidFill>
                  <a:srgbClr val="1A1A1A"/>
                </a:solidFill>
              </a:defRPr>
            </a:pPr>
            <a:r>
              <a:t>Example request ready to execute</a:t>
            </a:r>
          </a:p>
        </p:txBody>
      </p:sp>
      <p:sp>
        <p:nvSpPr>
          <p:cNvPr id="29" name="TextBox 28"/>
          <p:cNvSpPr txBox="1"/>
          <p:nvPr/>
        </p:nvSpPr>
        <p:spPr>
          <a:xfrm>
            <a:off x="320040" y="3108960"/>
            <a:ext cx="8503920" cy="228600"/>
          </a:xfrm>
          <a:prstGeom prst="rect">
            <a:avLst/>
          </a:prstGeom>
          <a:noFill/>
        </p:spPr>
        <p:txBody>
          <a:bodyPr wrap="square">
            <a:spAutoFit/>
          </a:bodyPr>
          <a:lstStyle/>
          <a:p>
            <a:pPr>
              <a:defRPr sz="1000">
                <a:solidFill>
                  <a:srgbClr val="444444"/>
                </a:solidFill>
              </a:defRPr>
            </a:pPr>
            <a:r>
              <a:t>./run.sh opens Web UI  |  ./run.sh --cli for terminal  |  3 example queries in README</a:t>
            </a:r>
          </a:p>
        </p:txBody>
      </p:sp>
      <p:sp>
        <p:nvSpPr>
          <p:cNvPr id="30" name="Rectangle 29"/>
          <p:cNvSpPr/>
          <p:nvPr/>
        </p:nvSpPr>
        <p:spPr>
          <a:xfrm>
            <a:off x="182880" y="347472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2880" y="3474720"/>
            <a:ext cx="8778240" cy="502920"/>
          </a:xfrm>
          <a:prstGeom prst="rect">
            <a:avLst/>
          </a:prstGeom>
          <a:solidFill>
            <a:srgbClr val="E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2880" y="3474720"/>
            <a:ext cx="54864" cy="502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3502152"/>
            <a:ext cx="8503920" cy="182880"/>
          </a:xfrm>
          <a:prstGeom prst="rect">
            <a:avLst/>
          </a:prstGeom>
          <a:noFill/>
        </p:spPr>
        <p:txBody>
          <a:bodyPr wrap="none">
            <a:spAutoFit/>
          </a:bodyPr>
          <a:lstStyle/>
          <a:p>
            <a:pPr>
              <a:defRPr sz="1200" b="1">
                <a:solidFill>
                  <a:srgbClr val="1A1A1A"/>
                </a:solidFill>
              </a:defRPr>
            </a:pPr>
            <a:r>
              <a:t>Notes on quality evaluation</a:t>
            </a:r>
          </a:p>
        </p:txBody>
      </p:sp>
      <p:sp>
        <p:nvSpPr>
          <p:cNvPr id="34" name="TextBox 33"/>
          <p:cNvSpPr txBox="1"/>
          <p:nvPr/>
        </p:nvSpPr>
        <p:spPr>
          <a:xfrm>
            <a:off x="320040" y="3703320"/>
            <a:ext cx="8503920" cy="228600"/>
          </a:xfrm>
          <a:prstGeom prst="rect">
            <a:avLst/>
          </a:prstGeom>
          <a:noFill/>
        </p:spPr>
        <p:txBody>
          <a:bodyPr wrap="square">
            <a:spAutoFit/>
          </a:bodyPr>
          <a:lstStyle/>
          <a:p>
            <a:pPr>
              <a:defRPr sz="1000">
                <a:solidFill>
                  <a:srgbClr val="444444"/>
                </a:solidFill>
              </a:defRPr>
            </a:pPr>
            <a:r>
              <a:t>34 claims verified by grep, 97% exact, 0 hallucinations, pipeline validation suite</a:t>
            </a:r>
          </a:p>
        </p:txBody>
      </p:sp>
      <p:sp>
        <p:nvSpPr>
          <p:cNvPr id="35" name="Rectangle 34"/>
          <p:cNvSpPr/>
          <p:nvPr/>
        </p:nvSpPr>
        <p:spPr>
          <a:xfrm>
            <a:off x="182880" y="4069080"/>
            <a:ext cx="8778240" cy="98298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2880" y="4069080"/>
            <a:ext cx="54864" cy="982980"/>
          </a:xfrm>
          <a:prstGeom prst="rect">
            <a:avLst/>
          </a:prstGeom>
          <a:solidFill>
            <a:srgbClr val="4A6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4123944"/>
            <a:ext cx="8503920" cy="891540"/>
          </a:xfrm>
          <a:prstGeom prst="rect">
            <a:avLst/>
          </a:prstGeom>
          <a:noFill/>
        </p:spPr>
        <p:txBody>
          <a:bodyPr wrap="square">
            <a:spAutoFit/>
          </a:bodyPr>
          <a:lstStyle/>
          <a:p>
            <a:pPr>
              <a:spcAft>
                <a:spcPts val="100"/>
              </a:spcAft>
              <a:defRPr sz="1100" b="1">
                <a:solidFill>
                  <a:srgbClr val="1A1A1A"/>
                </a:solidFill>
              </a:defRPr>
            </a:pPr>
            <a:r>
              <a:t>Beyond requirements: Streamlit Web UI, role-based access control, multi-tenant architecture, full audit trail, multi-provider LLM support, streaming responses, balanced per-entity retrieval, section-aware filtering, and content-hash embedding deduplication.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626</Words>
  <Application>Microsoft Macintosh PowerPoint</Application>
  <PresentationFormat>On-screen Show (16:9)</PresentationFormat>
  <Paragraphs>130</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 Filing Research Tool — System Architecture</dc:title>
  <dc:subject>PptxGenJS Presentation</dc:subject>
  <dc:creator>Chris Jaston</dc:creator>
  <cp:lastModifiedBy>Consultant 009320</cp:lastModifiedBy>
  <cp:revision>1</cp:revision>
  <dcterms:created xsi:type="dcterms:W3CDTF">2026-03-14T05:26:09Z</dcterms:created>
  <dcterms:modified xsi:type="dcterms:W3CDTF">2026-03-14T06:07:15Z</dcterms:modified>
</cp:coreProperties>
</file>